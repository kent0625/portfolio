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Montserrat Semi-Bold" panose="020B0604020202020204" charset="0"/>
      <p:regular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Montserrat Bold" panose="020B0604020202020204" charset="0"/>
      <p:regular r:id="rId13"/>
    </p:embeddedFont>
    <p:embeddedFont>
      <p:font typeface="Montserrat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89767" y="5701895"/>
            <a:ext cx="7708465" cy="0"/>
          </a:xfrm>
          <a:prstGeom prst="line">
            <a:avLst/>
          </a:prstGeom>
          <a:ln w="47625" cap="flat">
            <a:solidFill>
              <a:srgbClr val="043E6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3115964" y="6119632"/>
            <a:ext cx="12056072" cy="774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 b="1" spc="4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STATIC RAG SYSTEM FOR LOGISTICALLY AWARE</a:t>
            </a:r>
          </a:p>
          <a:p>
            <a:pPr algn="ctr">
              <a:lnSpc>
                <a:spcPts val="3200"/>
              </a:lnSpc>
            </a:pPr>
            <a:r>
              <a:rPr lang="en-US" sz="2000" b="1" spc="4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TRAVEL ITINERARY GENERATION IN CAGAYAN DE ORO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28645" y="7745509"/>
            <a:ext cx="2544930" cy="77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 b="1" spc="4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RENZO ALASAN</a:t>
            </a:r>
          </a:p>
        </p:txBody>
      </p:sp>
      <p:sp>
        <p:nvSpPr>
          <p:cNvPr id="5" name="AutoShape 5"/>
          <p:cNvSpPr/>
          <p:nvPr/>
        </p:nvSpPr>
        <p:spPr>
          <a:xfrm>
            <a:off x="5289767" y="7388322"/>
            <a:ext cx="7708465" cy="0"/>
          </a:xfrm>
          <a:prstGeom prst="line">
            <a:avLst/>
          </a:prstGeom>
          <a:ln w="47625" cap="flat">
            <a:solidFill>
              <a:srgbClr val="043E6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2635792" y="8883650"/>
            <a:ext cx="3330637" cy="77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 b="1" spc="4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YVONNE MARGARET BITCO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52379" y="7745509"/>
            <a:ext cx="2761677" cy="77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 b="1" spc="4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KENT MACALAM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52379" y="8883650"/>
            <a:ext cx="2761677" cy="77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 b="1" spc="4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ROQUE KYLE MALLARI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90531" y="7796309"/>
            <a:ext cx="2761677" cy="77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 b="1" spc="4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EMMANUEL SEVILLA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90531" y="8883650"/>
            <a:ext cx="2761677" cy="77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 b="1" spc="40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CRISTOBAL 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7459487" y="1092147"/>
            <a:ext cx="3369026" cy="2670719"/>
          </a:xfrm>
          <a:custGeom>
            <a:avLst/>
            <a:gdLst/>
            <a:ahLst/>
            <a:cxnLst/>
            <a:rect l="l" t="t" r="r" b="b"/>
            <a:pathLst>
              <a:path w="3369026" h="2670719">
                <a:moveTo>
                  <a:pt x="0" y="0"/>
                </a:moveTo>
                <a:lnTo>
                  <a:pt x="3369026" y="0"/>
                </a:lnTo>
                <a:lnTo>
                  <a:pt x="3369026" y="2670719"/>
                </a:lnTo>
                <a:lnTo>
                  <a:pt x="0" y="2670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9144000" y="2714156"/>
            <a:ext cx="723900" cy="323850"/>
            <a:chOff x="0" y="0"/>
            <a:chExt cx="965200" cy="431800"/>
          </a:xfrm>
        </p:grpSpPr>
        <p:sp>
          <p:nvSpPr>
            <p:cNvPr id="13" name="Freeform 13"/>
            <p:cNvSpPr/>
            <p:nvPr/>
          </p:nvSpPr>
          <p:spPr>
            <a:xfrm>
              <a:off x="50402" y="44920"/>
              <a:ext cx="864570" cy="347477"/>
            </a:xfrm>
            <a:custGeom>
              <a:avLst/>
              <a:gdLst/>
              <a:ahLst/>
              <a:cxnLst/>
              <a:rect l="l" t="t" r="r" b="b"/>
              <a:pathLst>
                <a:path w="864570" h="347477">
                  <a:moveTo>
                    <a:pt x="75603" y="54140"/>
                  </a:moveTo>
                  <a:cubicBezTo>
                    <a:pt x="181448" y="282740"/>
                    <a:pt x="181448" y="308140"/>
                    <a:pt x="171367" y="320840"/>
                  </a:cubicBezTo>
                  <a:cubicBezTo>
                    <a:pt x="162547" y="332270"/>
                    <a:pt x="139866" y="338620"/>
                    <a:pt x="126005" y="334810"/>
                  </a:cubicBezTo>
                  <a:cubicBezTo>
                    <a:pt x="110885" y="331000"/>
                    <a:pt x="98284" y="317030"/>
                    <a:pt x="84424" y="296710"/>
                  </a:cubicBezTo>
                  <a:cubicBezTo>
                    <a:pt x="60483" y="259880"/>
                    <a:pt x="21421" y="155740"/>
                    <a:pt x="12601" y="112560"/>
                  </a:cubicBezTo>
                  <a:cubicBezTo>
                    <a:pt x="8820" y="92240"/>
                    <a:pt x="7560" y="78270"/>
                    <a:pt x="13861" y="64300"/>
                  </a:cubicBezTo>
                  <a:cubicBezTo>
                    <a:pt x="20161" y="51600"/>
                    <a:pt x="36542" y="36360"/>
                    <a:pt x="50402" y="32550"/>
                  </a:cubicBezTo>
                  <a:cubicBezTo>
                    <a:pt x="64263" y="28740"/>
                    <a:pt x="80643" y="35090"/>
                    <a:pt x="95764" y="41440"/>
                  </a:cubicBezTo>
                  <a:cubicBezTo>
                    <a:pt x="109625" y="47790"/>
                    <a:pt x="120965" y="56680"/>
                    <a:pt x="137346" y="70650"/>
                  </a:cubicBezTo>
                  <a:cubicBezTo>
                    <a:pt x="163807" y="93510"/>
                    <a:pt x="224289" y="140500"/>
                    <a:pt x="238150" y="172250"/>
                  </a:cubicBezTo>
                  <a:cubicBezTo>
                    <a:pt x="246970" y="192570"/>
                    <a:pt x="246970" y="217970"/>
                    <a:pt x="239410" y="230670"/>
                  </a:cubicBezTo>
                  <a:cubicBezTo>
                    <a:pt x="231850" y="243370"/>
                    <a:pt x="207909" y="252260"/>
                    <a:pt x="191528" y="252260"/>
                  </a:cubicBezTo>
                  <a:cubicBezTo>
                    <a:pt x="176407" y="252260"/>
                    <a:pt x="161287" y="243370"/>
                    <a:pt x="143646" y="233210"/>
                  </a:cubicBezTo>
                  <a:cubicBezTo>
                    <a:pt x="122225" y="220510"/>
                    <a:pt x="83164" y="201460"/>
                    <a:pt x="73083" y="178600"/>
                  </a:cubicBezTo>
                  <a:cubicBezTo>
                    <a:pt x="63003" y="162090"/>
                    <a:pt x="61743" y="134150"/>
                    <a:pt x="70563" y="118910"/>
                  </a:cubicBezTo>
                  <a:cubicBezTo>
                    <a:pt x="81903" y="99860"/>
                    <a:pt x="119705" y="84620"/>
                    <a:pt x="146166" y="80810"/>
                  </a:cubicBezTo>
                  <a:cubicBezTo>
                    <a:pt x="172627" y="75730"/>
                    <a:pt x="228070" y="87160"/>
                    <a:pt x="229330" y="90970"/>
                  </a:cubicBezTo>
                  <a:cubicBezTo>
                    <a:pt x="229330" y="92240"/>
                    <a:pt x="211689" y="98590"/>
                    <a:pt x="209169" y="96050"/>
                  </a:cubicBezTo>
                  <a:cubicBezTo>
                    <a:pt x="206649" y="93510"/>
                    <a:pt x="214209" y="74460"/>
                    <a:pt x="221769" y="66840"/>
                  </a:cubicBezTo>
                  <a:cubicBezTo>
                    <a:pt x="230590" y="57950"/>
                    <a:pt x="248230" y="51600"/>
                    <a:pt x="260831" y="52870"/>
                  </a:cubicBezTo>
                  <a:cubicBezTo>
                    <a:pt x="273431" y="55410"/>
                    <a:pt x="284772" y="64300"/>
                    <a:pt x="294852" y="78270"/>
                  </a:cubicBezTo>
                  <a:cubicBezTo>
                    <a:pt x="313753" y="104940"/>
                    <a:pt x="313753" y="197650"/>
                    <a:pt x="336434" y="223050"/>
                  </a:cubicBezTo>
                  <a:cubicBezTo>
                    <a:pt x="350295" y="238290"/>
                    <a:pt x="374236" y="235750"/>
                    <a:pt x="386836" y="244640"/>
                  </a:cubicBezTo>
                  <a:cubicBezTo>
                    <a:pt x="395657" y="250990"/>
                    <a:pt x="404477" y="259880"/>
                    <a:pt x="406997" y="270040"/>
                  </a:cubicBezTo>
                  <a:cubicBezTo>
                    <a:pt x="409517" y="281470"/>
                    <a:pt x="406997" y="301790"/>
                    <a:pt x="399437" y="310680"/>
                  </a:cubicBezTo>
                  <a:cubicBezTo>
                    <a:pt x="394396" y="319570"/>
                    <a:pt x="384316" y="327190"/>
                    <a:pt x="372976" y="328460"/>
                  </a:cubicBezTo>
                  <a:cubicBezTo>
                    <a:pt x="355335" y="329730"/>
                    <a:pt x="330134" y="308140"/>
                    <a:pt x="302413" y="304330"/>
                  </a:cubicBezTo>
                  <a:cubicBezTo>
                    <a:pt x="259571" y="297980"/>
                    <a:pt x="172627" y="319570"/>
                    <a:pt x="142386" y="310680"/>
                  </a:cubicBezTo>
                  <a:cubicBezTo>
                    <a:pt x="128525" y="306870"/>
                    <a:pt x="120965" y="300520"/>
                    <a:pt x="115925" y="292900"/>
                  </a:cubicBezTo>
                  <a:cubicBezTo>
                    <a:pt x="109625" y="284010"/>
                    <a:pt x="107105" y="271310"/>
                    <a:pt x="108365" y="261150"/>
                  </a:cubicBezTo>
                  <a:cubicBezTo>
                    <a:pt x="109625" y="250990"/>
                    <a:pt x="115925" y="239560"/>
                    <a:pt x="123485" y="233210"/>
                  </a:cubicBezTo>
                  <a:cubicBezTo>
                    <a:pt x="129785" y="226860"/>
                    <a:pt x="138606" y="224320"/>
                    <a:pt x="152466" y="221780"/>
                  </a:cubicBezTo>
                  <a:cubicBezTo>
                    <a:pt x="186488" y="215430"/>
                    <a:pt x="280992" y="215430"/>
                    <a:pt x="322573" y="221780"/>
                  </a:cubicBezTo>
                  <a:cubicBezTo>
                    <a:pt x="347774" y="224320"/>
                    <a:pt x="369195" y="228130"/>
                    <a:pt x="380536" y="238290"/>
                  </a:cubicBezTo>
                  <a:cubicBezTo>
                    <a:pt x="389356" y="244640"/>
                    <a:pt x="394396" y="256070"/>
                    <a:pt x="395657" y="266230"/>
                  </a:cubicBezTo>
                  <a:cubicBezTo>
                    <a:pt x="396917" y="276390"/>
                    <a:pt x="395657" y="287820"/>
                    <a:pt x="388096" y="297980"/>
                  </a:cubicBezTo>
                  <a:cubicBezTo>
                    <a:pt x="375496" y="313220"/>
                    <a:pt x="333914" y="336080"/>
                    <a:pt x="313753" y="336080"/>
                  </a:cubicBezTo>
                  <a:cubicBezTo>
                    <a:pt x="299893" y="334810"/>
                    <a:pt x="284772" y="323380"/>
                    <a:pt x="278472" y="311950"/>
                  </a:cubicBezTo>
                  <a:cubicBezTo>
                    <a:pt x="272171" y="299250"/>
                    <a:pt x="273431" y="271310"/>
                    <a:pt x="283512" y="261150"/>
                  </a:cubicBezTo>
                  <a:cubicBezTo>
                    <a:pt x="293592" y="249720"/>
                    <a:pt x="343994" y="253530"/>
                    <a:pt x="343994" y="253530"/>
                  </a:cubicBezTo>
                  <a:cubicBezTo>
                    <a:pt x="343994" y="253530"/>
                    <a:pt x="302413" y="259880"/>
                    <a:pt x="302413" y="258610"/>
                  </a:cubicBezTo>
                  <a:cubicBezTo>
                    <a:pt x="301153" y="256070"/>
                    <a:pt x="346514" y="238290"/>
                    <a:pt x="386836" y="230670"/>
                  </a:cubicBezTo>
                  <a:cubicBezTo>
                    <a:pt x="471260" y="212890"/>
                    <a:pt x="735871" y="188760"/>
                    <a:pt x="793833" y="196380"/>
                  </a:cubicBezTo>
                  <a:cubicBezTo>
                    <a:pt x="810214" y="198920"/>
                    <a:pt x="816514" y="200190"/>
                    <a:pt x="824074" y="207810"/>
                  </a:cubicBezTo>
                  <a:cubicBezTo>
                    <a:pt x="831635" y="216700"/>
                    <a:pt x="840455" y="234480"/>
                    <a:pt x="839195" y="247180"/>
                  </a:cubicBezTo>
                  <a:cubicBezTo>
                    <a:pt x="837935" y="259880"/>
                    <a:pt x="827854" y="272580"/>
                    <a:pt x="815254" y="281470"/>
                  </a:cubicBezTo>
                  <a:cubicBezTo>
                    <a:pt x="793833" y="296710"/>
                    <a:pt x="757291" y="305600"/>
                    <a:pt x="711930" y="311950"/>
                  </a:cubicBezTo>
                  <a:cubicBezTo>
                    <a:pt x="632546" y="322110"/>
                    <a:pt x="419597" y="339890"/>
                    <a:pt x="376756" y="311950"/>
                  </a:cubicBezTo>
                  <a:cubicBezTo>
                    <a:pt x="359115" y="301790"/>
                    <a:pt x="352815" y="281470"/>
                    <a:pt x="355335" y="268770"/>
                  </a:cubicBezTo>
                  <a:cubicBezTo>
                    <a:pt x="357855" y="257340"/>
                    <a:pt x="367935" y="245910"/>
                    <a:pt x="386836" y="238290"/>
                  </a:cubicBezTo>
                  <a:cubicBezTo>
                    <a:pt x="441018" y="216700"/>
                    <a:pt x="691769" y="245910"/>
                    <a:pt x="761072" y="238290"/>
                  </a:cubicBezTo>
                  <a:cubicBezTo>
                    <a:pt x="788793" y="234480"/>
                    <a:pt x="800133" y="221780"/>
                    <a:pt x="816514" y="225590"/>
                  </a:cubicBezTo>
                  <a:cubicBezTo>
                    <a:pt x="832895" y="228130"/>
                    <a:pt x="854316" y="240830"/>
                    <a:pt x="860616" y="252260"/>
                  </a:cubicBezTo>
                  <a:cubicBezTo>
                    <a:pt x="865656" y="262420"/>
                    <a:pt x="865656" y="275120"/>
                    <a:pt x="861876" y="285280"/>
                  </a:cubicBezTo>
                  <a:cubicBezTo>
                    <a:pt x="859356" y="294170"/>
                    <a:pt x="853055" y="305600"/>
                    <a:pt x="841715" y="309410"/>
                  </a:cubicBezTo>
                  <a:cubicBezTo>
                    <a:pt x="825334" y="317030"/>
                    <a:pt x="795093" y="314490"/>
                    <a:pt x="766112" y="301790"/>
                  </a:cubicBezTo>
                  <a:cubicBezTo>
                    <a:pt x="709409" y="276390"/>
                    <a:pt x="544343" y="131610"/>
                    <a:pt x="551903" y="112560"/>
                  </a:cubicBezTo>
                  <a:cubicBezTo>
                    <a:pt x="555683" y="103670"/>
                    <a:pt x="592225" y="108750"/>
                    <a:pt x="608605" y="113830"/>
                  </a:cubicBezTo>
                  <a:cubicBezTo>
                    <a:pt x="622466" y="118910"/>
                    <a:pt x="635066" y="129070"/>
                    <a:pt x="645147" y="139230"/>
                  </a:cubicBezTo>
                  <a:cubicBezTo>
                    <a:pt x="653967" y="149390"/>
                    <a:pt x="665308" y="162090"/>
                    <a:pt x="665308" y="174790"/>
                  </a:cubicBezTo>
                  <a:cubicBezTo>
                    <a:pt x="665308" y="191300"/>
                    <a:pt x="655227" y="217970"/>
                    <a:pt x="633806" y="230670"/>
                  </a:cubicBezTo>
                  <a:cubicBezTo>
                    <a:pt x="592225" y="254800"/>
                    <a:pt x="443538" y="233210"/>
                    <a:pt x="384316" y="229400"/>
                  </a:cubicBezTo>
                  <a:cubicBezTo>
                    <a:pt x="351555" y="226860"/>
                    <a:pt x="325094" y="226860"/>
                    <a:pt x="306193" y="219240"/>
                  </a:cubicBezTo>
                  <a:cubicBezTo>
                    <a:pt x="294852" y="214160"/>
                    <a:pt x="286032" y="209080"/>
                    <a:pt x="280992" y="200190"/>
                  </a:cubicBezTo>
                  <a:cubicBezTo>
                    <a:pt x="274691" y="190030"/>
                    <a:pt x="272171" y="169710"/>
                    <a:pt x="275952" y="158280"/>
                  </a:cubicBezTo>
                  <a:cubicBezTo>
                    <a:pt x="280992" y="146850"/>
                    <a:pt x="292332" y="136690"/>
                    <a:pt x="308713" y="131610"/>
                  </a:cubicBezTo>
                  <a:cubicBezTo>
                    <a:pt x="342734" y="120180"/>
                    <a:pt x="430938" y="149390"/>
                    <a:pt x="491420" y="153200"/>
                  </a:cubicBezTo>
                  <a:cubicBezTo>
                    <a:pt x="553163" y="157010"/>
                    <a:pt x="641367" y="149390"/>
                    <a:pt x="676648" y="155740"/>
                  </a:cubicBezTo>
                  <a:cubicBezTo>
                    <a:pt x="691769" y="158280"/>
                    <a:pt x="699329" y="159550"/>
                    <a:pt x="706889" y="167170"/>
                  </a:cubicBezTo>
                  <a:cubicBezTo>
                    <a:pt x="714450" y="174790"/>
                    <a:pt x="722010" y="193840"/>
                    <a:pt x="720750" y="205270"/>
                  </a:cubicBezTo>
                  <a:cubicBezTo>
                    <a:pt x="720750" y="215430"/>
                    <a:pt x="713190" y="226860"/>
                    <a:pt x="706889" y="234480"/>
                  </a:cubicBezTo>
                  <a:cubicBezTo>
                    <a:pt x="699329" y="240830"/>
                    <a:pt x="687989" y="245910"/>
                    <a:pt x="676648" y="244640"/>
                  </a:cubicBezTo>
                  <a:cubicBezTo>
                    <a:pt x="662788" y="243370"/>
                    <a:pt x="652707" y="220510"/>
                    <a:pt x="628766" y="214160"/>
                  </a:cubicBezTo>
                  <a:cubicBezTo>
                    <a:pt x="577104" y="198920"/>
                    <a:pt x="438498" y="224320"/>
                    <a:pt x="359115" y="219240"/>
                  </a:cubicBezTo>
                  <a:cubicBezTo>
                    <a:pt x="298632" y="215430"/>
                    <a:pt x="236890" y="209080"/>
                    <a:pt x="196568" y="196380"/>
                  </a:cubicBezTo>
                  <a:cubicBezTo>
                    <a:pt x="170107" y="187490"/>
                    <a:pt x="148686" y="178600"/>
                    <a:pt x="134826" y="163360"/>
                  </a:cubicBezTo>
                  <a:cubicBezTo>
                    <a:pt x="123485" y="150660"/>
                    <a:pt x="114665" y="129070"/>
                    <a:pt x="118445" y="116370"/>
                  </a:cubicBezTo>
                  <a:cubicBezTo>
                    <a:pt x="119705" y="103670"/>
                    <a:pt x="134826" y="89700"/>
                    <a:pt x="146166" y="84620"/>
                  </a:cubicBezTo>
                  <a:cubicBezTo>
                    <a:pt x="157507" y="80810"/>
                    <a:pt x="186488" y="88430"/>
                    <a:pt x="186488" y="90970"/>
                  </a:cubicBezTo>
                  <a:cubicBezTo>
                    <a:pt x="186488" y="93510"/>
                    <a:pt x="131046" y="103670"/>
                    <a:pt x="128525" y="99860"/>
                  </a:cubicBezTo>
                  <a:cubicBezTo>
                    <a:pt x="127265" y="97320"/>
                    <a:pt x="146166" y="79540"/>
                    <a:pt x="168847" y="73190"/>
                  </a:cubicBezTo>
                  <a:cubicBezTo>
                    <a:pt x="234370" y="52870"/>
                    <a:pt x="519142" y="96050"/>
                    <a:pt x="603565" y="80810"/>
                  </a:cubicBezTo>
                  <a:cubicBezTo>
                    <a:pt x="640107" y="74460"/>
                    <a:pt x="660267" y="47790"/>
                    <a:pt x="679168" y="51600"/>
                  </a:cubicBezTo>
                  <a:cubicBezTo>
                    <a:pt x="695549" y="55410"/>
                    <a:pt x="713190" y="73190"/>
                    <a:pt x="715710" y="87160"/>
                  </a:cubicBezTo>
                  <a:cubicBezTo>
                    <a:pt x="718230" y="101130"/>
                    <a:pt x="713190" y="121450"/>
                    <a:pt x="695549" y="134150"/>
                  </a:cubicBezTo>
                  <a:cubicBezTo>
                    <a:pt x="641367" y="169710"/>
                    <a:pt x="308713" y="151930"/>
                    <a:pt x="229330" y="136690"/>
                  </a:cubicBezTo>
                  <a:cubicBezTo>
                    <a:pt x="199088" y="130340"/>
                    <a:pt x="178928" y="127800"/>
                    <a:pt x="171367" y="112560"/>
                  </a:cubicBezTo>
                  <a:cubicBezTo>
                    <a:pt x="163807" y="97320"/>
                    <a:pt x="170107" y="60490"/>
                    <a:pt x="189008" y="42710"/>
                  </a:cubicBezTo>
                  <a:cubicBezTo>
                    <a:pt x="224289" y="10960"/>
                    <a:pt x="343994" y="10960"/>
                    <a:pt x="419598" y="5880"/>
                  </a:cubicBezTo>
                  <a:cubicBezTo>
                    <a:pt x="492681" y="800"/>
                    <a:pt x="596005" y="-6820"/>
                    <a:pt x="635066" y="12230"/>
                  </a:cubicBezTo>
                  <a:cubicBezTo>
                    <a:pt x="653967" y="21120"/>
                    <a:pt x="664048" y="37630"/>
                    <a:pt x="669088" y="51600"/>
                  </a:cubicBezTo>
                  <a:cubicBezTo>
                    <a:pt x="674128" y="65570"/>
                    <a:pt x="674128" y="82080"/>
                    <a:pt x="670348" y="97320"/>
                  </a:cubicBezTo>
                  <a:cubicBezTo>
                    <a:pt x="665308" y="115100"/>
                    <a:pt x="651447" y="137960"/>
                    <a:pt x="637587" y="153200"/>
                  </a:cubicBezTo>
                  <a:cubicBezTo>
                    <a:pt x="624986" y="165900"/>
                    <a:pt x="607345" y="176060"/>
                    <a:pt x="589705" y="182410"/>
                  </a:cubicBezTo>
                  <a:cubicBezTo>
                    <a:pt x="570804" y="190030"/>
                    <a:pt x="541823" y="200190"/>
                    <a:pt x="524182" y="193840"/>
                  </a:cubicBezTo>
                  <a:cubicBezTo>
                    <a:pt x="509061" y="188760"/>
                    <a:pt x="491420" y="165900"/>
                    <a:pt x="490160" y="151930"/>
                  </a:cubicBezTo>
                  <a:cubicBezTo>
                    <a:pt x="490160" y="136690"/>
                    <a:pt x="509061" y="112560"/>
                    <a:pt x="521662" y="107480"/>
                  </a:cubicBezTo>
                  <a:cubicBezTo>
                    <a:pt x="534262" y="102400"/>
                    <a:pt x="554423" y="107480"/>
                    <a:pt x="563243" y="115100"/>
                  </a:cubicBezTo>
                  <a:cubicBezTo>
                    <a:pt x="573324" y="122720"/>
                    <a:pt x="580884" y="141770"/>
                    <a:pt x="579624" y="154470"/>
                  </a:cubicBezTo>
                  <a:cubicBezTo>
                    <a:pt x="579624" y="165900"/>
                    <a:pt x="569544" y="183680"/>
                    <a:pt x="558203" y="190030"/>
                  </a:cubicBezTo>
                  <a:cubicBezTo>
                    <a:pt x="544343" y="195110"/>
                    <a:pt x="514101" y="192570"/>
                    <a:pt x="504021" y="182410"/>
                  </a:cubicBezTo>
                  <a:cubicBezTo>
                    <a:pt x="493941" y="172250"/>
                    <a:pt x="491420" y="140500"/>
                    <a:pt x="496461" y="127800"/>
                  </a:cubicBezTo>
                  <a:cubicBezTo>
                    <a:pt x="500241" y="118910"/>
                    <a:pt x="507801" y="113830"/>
                    <a:pt x="517882" y="108750"/>
                  </a:cubicBezTo>
                  <a:cubicBezTo>
                    <a:pt x="534262" y="99860"/>
                    <a:pt x="596005" y="98590"/>
                    <a:pt x="596005" y="94780"/>
                  </a:cubicBezTo>
                  <a:cubicBezTo>
                    <a:pt x="594745" y="90970"/>
                    <a:pt x="478820" y="89700"/>
                    <a:pt x="418337" y="92240"/>
                  </a:cubicBezTo>
                  <a:cubicBezTo>
                    <a:pt x="354075" y="96050"/>
                    <a:pt x="244450" y="139230"/>
                    <a:pt x="221769" y="117640"/>
                  </a:cubicBezTo>
                  <a:cubicBezTo>
                    <a:pt x="209169" y="104940"/>
                    <a:pt x="210429" y="64300"/>
                    <a:pt x="229330" y="47790"/>
                  </a:cubicBezTo>
                  <a:cubicBezTo>
                    <a:pt x="270911" y="8420"/>
                    <a:pt x="536782" y="37630"/>
                    <a:pt x="619946" y="47790"/>
                  </a:cubicBezTo>
                  <a:cubicBezTo>
                    <a:pt x="660267" y="51600"/>
                    <a:pt x="693029" y="54140"/>
                    <a:pt x="706889" y="68110"/>
                  </a:cubicBezTo>
                  <a:cubicBezTo>
                    <a:pt x="715710" y="75730"/>
                    <a:pt x="716970" y="87160"/>
                    <a:pt x="716970" y="97320"/>
                  </a:cubicBezTo>
                  <a:cubicBezTo>
                    <a:pt x="715710" y="110020"/>
                    <a:pt x="708149" y="123990"/>
                    <a:pt x="695549" y="134150"/>
                  </a:cubicBezTo>
                  <a:cubicBezTo>
                    <a:pt x="676648" y="149390"/>
                    <a:pt x="646407" y="162090"/>
                    <a:pt x="603565" y="169710"/>
                  </a:cubicBezTo>
                  <a:cubicBezTo>
                    <a:pt x="516621" y="183680"/>
                    <a:pt x="270911" y="146850"/>
                    <a:pt x="195308" y="151930"/>
                  </a:cubicBezTo>
                  <a:cubicBezTo>
                    <a:pt x="166327" y="154470"/>
                    <a:pt x="147426" y="170980"/>
                    <a:pt x="134826" y="163360"/>
                  </a:cubicBezTo>
                  <a:cubicBezTo>
                    <a:pt x="123485" y="157010"/>
                    <a:pt x="114665" y="129070"/>
                    <a:pt x="118445" y="116370"/>
                  </a:cubicBezTo>
                  <a:cubicBezTo>
                    <a:pt x="120965" y="102400"/>
                    <a:pt x="141126" y="84620"/>
                    <a:pt x="156247" y="82080"/>
                  </a:cubicBezTo>
                  <a:cubicBezTo>
                    <a:pt x="173887" y="79540"/>
                    <a:pt x="192788" y="106210"/>
                    <a:pt x="219249" y="113830"/>
                  </a:cubicBezTo>
                  <a:cubicBezTo>
                    <a:pt x="255791" y="125260"/>
                    <a:pt x="304933" y="127800"/>
                    <a:pt x="359115" y="130340"/>
                  </a:cubicBezTo>
                  <a:cubicBezTo>
                    <a:pt x="433458" y="135420"/>
                    <a:pt x="570804" y="125260"/>
                    <a:pt x="623726" y="131610"/>
                  </a:cubicBezTo>
                  <a:cubicBezTo>
                    <a:pt x="646407" y="134150"/>
                    <a:pt x="657747" y="136690"/>
                    <a:pt x="672868" y="144310"/>
                  </a:cubicBezTo>
                  <a:cubicBezTo>
                    <a:pt x="687989" y="151930"/>
                    <a:pt x="705629" y="162090"/>
                    <a:pt x="713190" y="174790"/>
                  </a:cubicBezTo>
                  <a:cubicBezTo>
                    <a:pt x="719490" y="186220"/>
                    <a:pt x="723270" y="205270"/>
                    <a:pt x="718230" y="216700"/>
                  </a:cubicBezTo>
                  <a:cubicBezTo>
                    <a:pt x="714450" y="228130"/>
                    <a:pt x="704369" y="237020"/>
                    <a:pt x="687989" y="243370"/>
                  </a:cubicBezTo>
                  <a:cubicBezTo>
                    <a:pt x="642627" y="259880"/>
                    <a:pt x="486380" y="239560"/>
                    <a:pt x="415817" y="234480"/>
                  </a:cubicBezTo>
                  <a:cubicBezTo>
                    <a:pt x="371715" y="230670"/>
                    <a:pt x="331394" y="230670"/>
                    <a:pt x="306193" y="219240"/>
                  </a:cubicBezTo>
                  <a:cubicBezTo>
                    <a:pt x="292332" y="211620"/>
                    <a:pt x="279732" y="202730"/>
                    <a:pt x="275952" y="190030"/>
                  </a:cubicBezTo>
                  <a:cubicBezTo>
                    <a:pt x="272171" y="177330"/>
                    <a:pt x="278472" y="150660"/>
                    <a:pt x="288552" y="140500"/>
                  </a:cubicBezTo>
                  <a:cubicBezTo>
                    <a:pt x="298632" y="131610"/>
                    <a:pt x="315013" y="131610"/>
                    <a:pt x="336434" y="130340"/>
                  </a:cubicBezTo>
                  <a:cubicBezTo>
                    <a:pt x="381796" y="127800"/>
                    <a:pt x="505281" y="136690"/>
                    <a:pt x="546863" y="146850"/>
                  </a:cubicBezTo>
                  <a:cubicBezTo>
                    <a:pt x="564503" y="150660"/>
                    <a:pt x="575844" y="151930"/>
                    <a:pt x="584664" y="162090"/>
                  </a:cubicBezTo>
                  <a:cubicBezTo>
                    <a:pt x="593485" y="172250"/>
                    <a:pt x="601045" y="206540"/>
                    <a:pt x="597265" y="209080"/>
                  </a:cubicBezTo>
                  <a:cubicBezTo>
                    <a:pt x="593485" y="210350"/>
                    <a:pt x="553163" y="162090"/>
                    <a:pt x="541823" y="141770"/>
                  </a:cubicBezTo>
                  <a:cubicBezTo>
                    <a:pt x="535522" y="126530"/>
                    <a:pt x="530482" y="113830"/>
                    <a:pt x="531742" y="99860"/>
                  </a:cubicBezTo>
                  <a:cubicBezTo>
                    <a:pt x="534262" y="85890"/>
                    <a:pt x="541823" y="63030"/>
                    <a:pt x="554423" y="56680"/>
                  </a:cubicBezTo>
                  <a:cubicBezTo>
                    <a:pt x="568284" y="49060"/>
                    <a:pt x="592225" y="55410"/>
                    <a:pt x="617426" y="65570"/>
                  </a:cubicBezTo>
                  <a:cubicBezTo>
                    <a:pt x="667828" y="87160"/>
                    <a:pt x="778712" y="204000"/>
                    <a:pt x="816514" y="225590"/>
                  </a:cubicBezTo>
                  <a:cubicBezTo>
                    <a:pt x="830375" y="233210"/>
                    <a:pt x="839195" y="228130"/>
                    <a:pt x="848015" y="235750"/>
                  </a:cubicBezTo>
                  <a:cubicBezTo>
                    <a:pt x="856836" y="243370"/>
                    <a:pt x="864396" y="262420"/>
                    <a:pt x="864396" y="273850"/>
                  </a:cubicBezTo>
                  <a:cubicBezTo>
                    <a:pt x="864396" y="284010"/>
                    <a:pt x="860616" y="295440"/>
                    <a:pt x="850535" y="303060"/>
                  </a:cubicBezTo>
                  <a:cubicBezTo>
                    <a:pt x="834155" y="317030"/>
                    <a:pt x="797613" y="323380"/>
                    <a:pt x="752251" y="329730"/>
                  </a:cubicBezTo>
                  <a:cubicBezTo>
                    <a:pt x="660267" y="342430"/>
                    <a:pt x="386836" y="358940"/>
                    <a:pt x="323834" y="336080"/>
                  </a:cubicBezTo>
                  <a:cubicBezTo>
                    <a:pt x="302413" y="328460"/>
                    <a:pt x="293592" y="317030"/>
                    <a:pt x="287292" y="304330"/>
                  </a:cubicBezTo>
                  <a:cubicBezTo>
                    <a:pt x="279732" y="291630"/>
                    <a:pt x="275952" y="272580"/>
                    <a:pt x="280992" y="261150"/>
                  </a:cubicBezTo>
                  <a:cubicBezTo>
                    <a:pt x="286032" y="247180"/>
                    <a:pt x="298632" y="237020"/>
                    <a:pt x="320053" y="229400"/>
                  </a:cubicBezTo>
                  <a:cubicBezTo>
                    <a:pt x="384316" y="206540"/>
                    <a:pt x="672868" y="248450"/>
                    <a:pt x="743431" y="228130"/>
                  </a:cubicBezTo>
                  <a:cubicBezTo>
                    <a:pt x="769892" y="220510"/>
                    <a:pt x="778712" y="198920"/>
                    <a:pt x="793833" y="196380"/>
                  </a:cubicBezTo>
                  <a:cubicBezTo>
                    <a:pt x="805173" y="195110"/>
                    <a:pt x="816514" y="201460"/>
                    <a:pt x="824074" y="207810"/>
                  </a:cubicBezTo>
                  <a:cubicBezTo>
                    <a:pt x="831635" y="214160"/>
                    <a:pt x="837935" y="226860"/>
                    <a:pt x="839195" y="235750"/>
                  </a:cubicBezTo>
                  <a:cubicBezTo>
                    <a:pt x="840455" y="245910"/>
                    <a:pt x="836675" y="258610"/>
                    <a:pt x="831635" y="267500"/>
                  </a:cubicBezTo>
                  <a:cubicBezTo>
                    <a:pt x="825334" y="275120"/>
                    <a:pt x="820294" y="280200"/>
                    <a:pt x="805173" y="285280"/>
                  </a:cubicBezTo>
                  <a:cubicBezTo>
                    <a:pt x="744691" y="308140"/>
                    <a:pt x="381796" y="352590"/>
                    <a:pt x="313753" y="336080"/>
                  </a:cubicBezTo>
                  <a:cubicBezTo>
                    <a:pt x="293592" y="331000"/>
                    <a:pt x="284772" y="322110"/>
                    <a:pt x="278472" y="311950"/>
                  </a:cubicBezTo>
                  <a:cubicBezTo>
                    <a:pt x="273431" y="303060"/>
                    <a:pt x="272171" y="290360"/>
                    <a:pt x="273431" y="280200"/>
                  </a:cubicBezTo>
                  <a:cubicBezTo>
                    <a:pt x="275952" y="271310"/>
                    <a:pt x="282252" y="261150"/>
                    <a:pt x="291072" y="253530"/>
                  </a:cubicBezTo>
                  <a:cubicBezTo>
                    <a:pt x="304933" y="242100"/>
                    <a:pt x="333914" y="226860"/>
                    <a:pt x="350295" y="226860"/>
                  </a:cubicBezTo>
                  <a:cubicBezTo>
                    <a:pt x="362895" y="225590"/>
                    <a:pt x="372976" y="230670"/>
                    <a:pt x="380536" y="238290"/>
                  </a:cubicBezTo>
                  <a:cubicBezTo>
                    <a:pt x="388096" y="244640"/>
                    <a:pt x="394396" y="256070"/>
                    <a:pt x="395656" y="266230"/>
                  </a:cubicBezTo>
                  <a:cubicBezTo>
                    <a:pt x="396917" y="276390"/>
                    <a:pt x="393136" y="289090"/>
                    <a:pt x="388096" y="297980"/>
                  </a:cubicBezTo>
                  <a:cubicBezTo>
                    <a:pt x="381796" y="305600"/>
                    <a:pt x="375496" y="311950"/>
                    <a:pt x="361635" y="315760"/>
                  </a:cubicBezTo>
                  <a:cubicBezTo>
                    <a:pt x="323833" y="327190"/>
                    <a:pt x="167587" y="329730"/>
                    <a:pt x="132306" y="306870"/>
                  </a:cubicBezTo>
                  <a:cubicBezTo>
                    <a:pt x="114665" y="296710"/>
                    <a:pt x="108365" y="275120"/>
                    <a:pt x="108365" y="261150"/>
                  </a:cubicBezTo>
                  <a:cubicBezTo>
                    <a:pt x="108365" y="250990"/>
                    <a:pt x="115925" y="239560"/>
                    <a:pt x="123485" y="233210"/>
                  </a:cubicBezTo>
                  <a:cubicBezTo>
                    <a:pt x="129785" y="226860"/>
                    <a:pt x="138606" y="224320"/>
                    <a:pt x="152466" y="221780"/>
                  </a:cubicBezTo>
                  <a:cubicBezTo>
                    <a:pt x="186488" y="215430"/>
                    <a:pt x="279732" y="214160"/>
                    <a:pt x="323833" y="223050"/>
                  </a:cubicBezTo>
                  <a:cubicBezTo>
                    <a:pt x="352815" y="228130"/>
                    <a:pt x="383056" y="235750"/>
                    <a:pt x="395656" y="250990"/>
                  </a:cubicBezTo>
                  <a:cubicBezTo>
                    <a:pt x="405737" y="263690"/>
                    <a:pt x="409517" y="289090"/>
                    <a:pt x="405737" y="301790"/>
                  </a:cubicBezTo>
                  <a:cubicBezTo>
                    <a:pt x="401957" y="311950"/>
                    <a:pt x="393136" y="320840"/>
                    <a:pt x="383056" y="324650"/>
                  </a:cubicBezTo>
                  <a:cubicBezTo>
                    <a:pt x="371715" y="329730"/>
                    <a:pt x="356595" y="329730"/>
                    <a:pt x="342734" y="328460"/>
                  </a:cubicBezTo>
                  <a:cubicBezTo>
                    <a:pt x="326354" y="325920"/>
                    <a:pt x="307453" y="322110"/>
                    <a:pt x="294852" y="311950"/>
                  </a:cubicBezTo>
                  <a:cubicBezTo>
                    <a:pt x="280992" y="301790"/>
                    <a:pt x="273431" y="284010"/>
                    <a:pt x="262091" y="263690"/>
                  </a:cubicBezTo>
                  <a:cubicBezTo>
                    <a:pt x="245710" y="231940"/>
                    <a:pt x="215469" y="173520"/>
                    <a:pt x="210429" y="139230"/>
                  </a:cubicBezTo>
                  <a:cubicBezTo>
                    <a:pt x="205389" y="115100"/>
                    <a:pt x="206649" y="89700"/>
                    <a:pt x="215469" y="75730"/>
                  </a:cubicBezTo>
                  <a:cubicBezTo>
                    <a:pt x="221769" y="63030"/>
                    <a:pt x="238150" y="52870"/>
                    <a:pt x="250750" y="52870"/>
                  </a:cubicBezTo>
                  <a:cubicBezTo>
                    <a:pt x="264611" y="52870"/>
                    <a:pt x="287292" y="65570"/>
                    <a:pt x="294852" y="78270"/>
                  </a:cubicBezTo>
                  <a:cubicBezTo>
                    <a:pt x="302413" y="90970"/>
                    <a:pt x="302413" y="116370"/>
                    <a:pt x="297372" y="131610"/>
                  </a:cubicBezTo>
                  <a:cubicBezTo>
                    <a:pt x="292332" y="146850"/>
                    <a:pt x="277212" y="163360"/>
                    <a:pt x="262091" y="170980"/>
                  </a:cubicBezTo>
                  <a:cubicBezTo>
                    <a:pt x="246970" y="179870"/>
                    <a:pt x="225549" y="176060"/>
                    <a:pt x="204129" y="176060"/>
                  </a:cubicBezTo>
                  <a:cubicBezTo>
                    <a:pt x="180188" y="177330"/>
                    <a:pt x="132306" y="183680"/>
                    <a:pt x="127265" y="173520"/>
                  </a:cubicBezTo>
                  <a:cubicBezTo>
                    <a:pt x="122225" y="165900"/>
                    <a:pt x="136086" y="137960"/>
                    <a:pt x="144906" y="136690"/>
                  </a:cubicBezTo>
                  <a:cubicBezTo>
                    <a:pt x="153726" y="134150"/>
                    <a:pt x="178927" y="162090"/>
                    <a:pt x="182708" y="177330"/>
                  </a:cubicBezTo>
                  <a:cubicBezTo>
                    <a:pt x="186488" y="191300"/>
                    <a:pt x="181448" y="220510"/>
                    <a:pt x="172627" y="223050"/>
                  </a:cubicBezTo>
                  <a:cubicBezTo>
                    <a:pt x="157507" y="226860"/>
                    <a:pt x="88204" y="145580"/>
                    <a:pt x="76863" y="113830"/>
                  </a:cubicBezTo>
                  <a:cubicBezTo>
                    <a:pt x="70563" y="96050"/>
                    <a:pt x="75603" y="63030"/>
                    <a:pt x="79383" y="63030"/>
                  </a:cubicBezTo>
                  <a:cubicBezTo>
                    <a:pt x="88204" y="61760"/>
                    <a:pt x="123485" y="214160"/>
                    <a:pt x="146166" y="252260"/>
                  </a:cubicBezTo>
                  <a:cubicBezTo>
                    <a:pt x="157507" y="272580"/>
                    <a:pt x="178927" y="278930"/>
                    <a:pt x="180188" y="291630"/>
                  </a:cubicBezTo>
                  <a:cubicBezTo>
                    <a:pt x="182708" y="303060"/>
                    <a:pt x="173887" y="320840"/>
                    <a:pt x="163807" y="328460"/>
                  </a:cubicBezTo>
                  <a:cubicBezTo>
                    <a:pt x="154987" y="334810"/>
                    <a:pt x="136086" y="337350"/>
                    <a:pt x="126005" y="334810"/>
                  </a:cubicBezTo>
                  <a:cubicBezTo>
                    <a:pt x="115925" y="332270"/>
                    <a:pt x="107105" y="323380"/>
                    <a:pt x="102064" y="315760"/>
                  </a:cubicBezTo>
                  <a:cubicBezTo>
                    <a:pt x="98284" y="310680"/>
                    <a:pt x="94504" y="300520"/>
                    <a:pt x="95764" y="296710"/>
                  </a:cubicBezTo>
                  <a:cubicBezTo>
                    <a:pt x="97024" y="294170"/>
                    <a:pt x="105844" y="297980"/>
                    <a:pt x="107105" y="295440"/>
                  </a:cubicBezTo>
                  <a:cubicBezTo>
                    <a:pt x="114665" y="278930"/>
                    <a:pt x="3780" y="108750"/>
                    <a:pt x="0" y="70650"/>
                  </a:cubicBezTo>
                  <a:cubicBezTo>
                    <a:pt x="0" y="56680"/>
                    <a:pt x="2520" y="50330"/>
                    <a:pt x="7560" y="43980"/>
                  </a:cubicBezTo>
                  <a:cubicBezTo>
                    <a:pt x="13861" y="36360"/>
                    <a:pt x="22681" y="30010"/>
                    <a:pt x="31501" y="28740"/>
                  </a:cubicBezTo>
                  <a:cubicBezTo>
                    <a:pt x="40322" y="27470"/>
                    <a:pt x="51662" y="28740"/>
                    <a:pt x="57962" y="32550"/>
                  </a:cubicBezTo>
                  <a:cubicBezTo>
                    <a:pt x="65523" y="37630"/>
                    <a:pt x="75603" y="54140"/>
                    <a:pt x="75603" y="54140"/>
                  </a:cubicBezTo>
                </a:path>
              </a:pathLst>
            </a:custGeom>
            <a:solidFill>
              <a:srgbClr val="E4AB4E"/>
            </a:solidFill>
            <a:ln cap="sq">
              <a:noFill/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7270750" y="3839758"/>
            <a:ext cx="3746500" cy="142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96"/>
              </a:lnSpc>
            </a:pPr>
            <a:r>
              <a:rPr lang="en-US" sz="5663" b="1">
                <a:solidFill>
                  <a:srgbClr val="043E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Smart</a:t>
            </a:r>
            <a:r>
              <a:rPr lang="en-US" sz="5663" b="1">
                <a:solidFill>
                  <a:srgbClr val="A6274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Trip</a:t>
            </a:r>
          </a:p>
          <a:p>
            <a:pPr algn="ctr">
              <a:lnSpc>
                <a:spcPts val="4531"/>
              </a:lnSpc>
              <a:spcBef>
                <a:spcPct val="0"/>
              </a:spcBef>
            </a:pPr>
            <a:r>
              <a:rPr lang="en-US" sz="3775" b="1">
                <a:solidFill>
                  <a:srgbClr val="E4AB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CDO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33217" y="2750351"/>
            <a:ext cx="233362" cy="251460"/>
            <a:chOff x="0" y="0"/>
            <a:chExt cx="311150" cy="335280"/>
          </a:xfrm>
        </p:grpSpPr>
        <p:sp>
          <p:nvSpPr>
            <p:cNvPr id="16" name="Freeform 16"/>
            <p:cNvSpPr/>
            <p:nvPr/>
          </p:nvSpPr>
          <p:spPr>
            <a:xfrm>
              <a:off x="48966" y="50562"/>
              <a:ext cx="212563" cy="238072"/>
            </a:xfrm>
            <a:custGeom>
              <a:avLst/>
              <a:gdLst/>
              <a:ahLst/>
              <a:cxnLst/>
              <a:rect l="l" t="t" r="r" b="b"/>
              <a:pathLst>
                <a:path w="212563" h="238072">
                  <a:moveTo>
                    <a:pt x="135184" y="75168"/>
                  </a:moveTo>
                  <a:cubicBezTo>
                    <a:pt x="85654" y="52308"/>
                    <a:pt x="72954" y="54848"/>
                    <a:pt x="66604" y="61198"/>
                  </a:cubicBezTo>
                  <a:cubicBezTo>
                    <a:pt x="58984" y="71358"/>
                    <a:pt x="56444" y="98028"/>
                    <a:pt x="58984" y="114538"/>
                  </a:cubicBezTo>
                  <a:cubicBezTo>
                    <a:pt x="61524" y="133588"/>
                    <a:pt x="70414" y="161528"/>
                    <a:pt x="84384" y="170418"/>
                  </a:cubicBezTo>
                  <a:cubicBezTo>
                    <a:pt x="97084" y="179308"/>
                    <a:pt x="122484" y="178038"/>
                    <a:pt x="138994" y="174228"/>
                  </a:cubicBezTo>
                  <a:cubicBezTo>
                    <a:pt x="155504" y="170418"/>
                    <a:pt x="172014" y="147558"/>
                    <a:pt x="184714" y="147558"/>
                  </a:cubicBezTo>
                  <a:cubicBezTo>
                    <a:pt x="194874" y="147558"/>
                    <a:pt x="205034" y="155178"/>
                    <a:pt x="208844" y="162798"/>
                  </a:cubicBezTo>
                  <a:cubicBezTo>
                    <a:pt x="212654" y="170418"/>
                    <a:pt x="212654" y="183118"/>
                    <a:pt x="208844" y="190738"/>
                  </a:cubicBezTo>
                  <a:cubicBezTo>
                    <a:pt x="206304" y="198358"/>
                    <a:pt x="194874" y="205978"/>
                    <a:pt x="185984" y="207248"/>
                  </a:cubicBezTo>
                  <a:cubicBezTo>
                    <a:pt x="178364" y="208518"/>
                    <a:pt x="165664" y="203438"/>
                    <a:pt x="160584" y="197088"/>
                  </a:cubicBezTo>
                  <a:cubicBezTo>
                    <a:pt x="154234" y="190738"/>
                    <a:pt x="150424" y="178038"/>
                    <a:pt x="152964" y="170418"/>
                  </a:cubicBezTo>
                  <a:cubicBezTo>
                    <a:pt x="156774" y="160258"/>
                    <a:pt x="172014" y="147558"/>
                    <a:pt x="182174" y="147558"/>
                  </a:cubicBezTo>
                  <a:cubicBezTo>
                    <a:pt x="189794" y="146288"/>
                    <a:pt x="202494" y="152638"/>
                    <a:pt x="207574" y="160258"/>
                  </a:cubicBezTo>
                  <a:cubicBezTo>
                    <a:pt x="211384" y="166608"/>
                    <a:pt x="215194" y="178038"/>
                    <a:pt x="210114" y="188198"/>
                  </a:cubicBezTo>
                  <a:cubicBezTo>
                    <a:pt x="203764" y="203438"/>
                    <a:pt x="168204" y="227568"/>
                    <a:pt x="142804" y="233918"/>
                  </a:cubicBezTo>
                  <a:cubicBezTo>
                    <a:pt x="117404" y="241538"/>
                    <a:pt x="79304" y="237728"/>
                    <a:pt x="60254" y="230108"/>
                  </a:cubicBezTo>
                  <a:cubicBezTo>
                    <a:pt x="50094" y="226298"/>
                    <a:pt x="45014" y="221218"/>
                    <a:pt x="37394" y="211058"/>
                  </a:cubicBezTo>
                  <a:cubicBezTo>
                    <a:pt x="24694" y="193278"/>
                    <a:pt x="5644" y="155178"/>
                    <a:pt x="1834" y="129778"/>
                  </a:cubicBezTo>
                  <a:cubicBezTo>
                    <a:pt x="-1976" y="108188"/>
                    <a:pt x="564" y="86598"/>
                    <a:pt x="5644" y="67548"/>
                  </a:cubicBezTo>
                  <a:cubicBezTo>
                    <a:pt x="9454" y="51038"/>
                    <a:pt x="14534" y="31988"/>
                    <a:pt x="25964" y="20558"/>
                  </a:cubicBezTo>
                  <a:cubicBezTo>
                    <a:pt x="39934" y="9128"/>
                    <a:pt x="64064" y="1508"/>
                    <a:pt x="83114" y="238"/>
                  </a:cubicBezTo>
                  <a:cubicBezTo>
                    <a:pt x="102164" y="-1032"/>
                    <a:pt x="122484" y="2778"/>
                    <a:pt x="137724" y="11668"/>
                  </a:cubicBezTo>
                  <a:cubicBezTo>
                    <a:pt x="155504" y="21828"/>
                    <a:pt x="180904" y="45958"/>
                    <a:pt x="180904" y="59928"/>
                  </a:cubicBezTo>
                  <a:cubicBezTo>
                    <a:pt x="182174" y="68818"/>
                    <a:pt x="170744" y="81518"/>
                    <a:pt x="163124" y="82788"/>
                  </a:cubicBezTo>
                  <a:cubicBezTo>
                    <a:pt x="155504" y="85328"/>
                    <a:pt x="135184" y="75168"/>
                    <a:pt x="135184" y="75168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9568815" y="2748446"/>
            <a:ext cx="241935" cy="253365"/>
            <a:chOff x="0" y="0"/>
            <a:chExt cx="322580" cy="337820"/>
          </a:xfrm>
        </p:grpSpPr>
        <p:sp>
          <p:nvSpPr>
            <p:cNvPr id="18" name="Freeform 18"/>
            <p:cNvSpPr/>
            <p:nvPr/>
          </p:nvSpPr>
          <p:spPr>
            <a:xfrm>
              <a:off x="49281" y="49354"/>
              <a:ext cx="225268" cy="236632"/>
            </a:xfrm>
            <a:custGeom>
              <a:avLst/>
              <a:gdLst/>
              <a:ahLst/>
              <a:cxnLst/>
              <a:rect l="l" t="t" r="r" b="b"/>
              <a:pathLst>
                <a:path w="225268" h="236632">
                  <a:moveTo>
                    <a:pt x="87879" y="53516"/>
                  </a:moveTo>
                  <a:cubicBezTo>
                    <a:pt x="63749" y="58596"/>
                    <a:pt x="52319" y="85266"/>
                    <a:pt x="51049" y="101776"/>
                  </a:cubicBezTo>
                  <a:cubicBezTo>
                    <a:pt x="51049" y="120826"/>
                    <a:pt x="61209" y="144956"/>
                    <a:pt x="70099" y="157656"/>
                  </a:cubicBezTo>
                  <a:cubicBezTo>
                    <a:pt x="76449" y="167816"/>
                    <a:pt x="81529" y="174166"/>
                    <a:pt x="91689" y="176706"/>
                  </a:cubicBezTo>
                  <a:cubicBezTo>
                    <a:pt x="104389" y="181786"/>
                    <a:pt x="131059" y="176706"/>
                    <a:pt x="146299" y="169086"/>
                  </a:cubicBezTo>
                  <a:cubicBezTo>
                    <a:pt x="156459" y="164006"/>
                    <a:pt x="169159" y="157656"/>
                    <a:pt x="171699" y="146226"/>
                  </a:cubicBezTo>
                  <a:cubicBezTo>
                    <a:pt x="174239" y="129716"/>
                    <a:pt x="150109" y="90346"/>
                    <a:pt x="132329" y="73836"/>
                  </a:cubicBezTo>
                  <a:cubicBezTo>
                    <a:pt x="118359" y="59866"/>
                    <a:pt x="85339" y="59866"/>
                    <a:pt x="78989" y="47166"/>
                  </a:cubicBezTo>
                  <a:cubicBezTo>
                    <a:pt x="73909" y="35736"/>
                    <a:pt x="81529" y="10336"/>
                    <a:pt x="89149" y="3986"/>
                  </a:cubicBezTo>
                  <a:cubicBezTo>
                    <a:pt x="95499" y="-1094"/>
                    <a:pt x="110739" y="-1094"/>
                    <a:pt x="118359" y="2716"/>
                  </a:cubicBezTo>
                  <a:cubicBezTo>
                    <a:pt x="124709" y="6526"/>
                    <a:pt x="133599" y="17956"/>
                    <a:pt x="134869" y="26846"/>
                  </a:cubicBezTo>
                  <a:cubicBezTo>
                    <a:pt x="134869" y="35736"/>
                    <a:pt x="124709" y="53516"/>
                    <a:pt x="117089" y="58596"/>
                  </a:cubicBezTo>
                  <a:cubicBezTo>
                    <a:pt x="109469" y="62406"/>
                    <a:pt x="95499" y="61136"/>
                    <a:pt x="87879" y="56056"/>
                  </a:cubicBezTo>
                  <a:cubicBezTo>
                    <a:pt x="80259" y="50976"/>
                    <a:pt x="72639" y="31926"/>
                    <a:pt x="75179" y="21766"/>
                  </a:cubicBezTo>
                  <a:cubicBezTo>
                    <a:pt x="76449" y="14146"/>
                    <a:pt x="85339" y="3986"/>
                    <a:pt x="95499" y="1446"/>
                  </a:cubicBezTo>
                  <a:cubicBezTo>
                    <a:pt x="112009" y="-2364"/>
                    <a:pt x="156459" y="11606"/>
                    <a:pt x="176779" y="30656"/>
                  </a:cubicBezTo>
                  <a:cubicBezTo>
                    <a:pt x="199639" y="49706"/>
                    <a:pt x="217419" y="91616"/>
                    <a:pt x="222499" y="118286"/>
                  </a:cubicBezTo>
                  <a:cubicBezTo>
                    <a:pt x="227579" y="137336"/>
                    <a:pt x="225039" y="158926"/>
                    <a:pt x="219959" y="171626"/>
                  </a:cubicBezTo>
                  <a:cubicBezTo>
                    <a:pt x="216149" y="180516"/>
                    <a:pt x="211069" y="184326"/>
                    <a:pt x="204719" y="191946"/>
                  </a:cubicBezTo>
                  <a:cubicBezTo>
                    <a:pt x="197099" y="200836"/>
                    <a:pt x="189479" y="212266"/>
                    <a:pt x="176779" y="218616"/>
                  </a:cubicBezTo>
                  <a:cubicBezTo>
                    <a:pt x="162809" y="227506"/>
                    <a:pt x="139949" y="235126"/>
                    <a:pt x="122169" y="236396"/>
                  </a:cubicBezTo>
                  <a:cubicBezTo>
                    <a:pt x="101849" y="237666"/>
                    <a:pt x="80259" y="233856"/>
                    <a:pt x="62479" y="223696"/>
                  </a:cubicBezTo>
                  <a:cubicBezTo>
                    <a:pt x="40889" y="210996"/>
                    <a:pt x="15489" y="179246"/>
                    <a:pt x="6599" y="156386"/>
                  </a:cubicBezTo>
                  <a:cubicBezTo>
                    <a:pt x="-1021" y="137336"/>
                    <a:pt x="-1021" y="119556"/>
                    <a:pt x="1519" y="99236"/>
                  </a:cubicBezTo>
                  <a:cubicBezTo>
                    <a:pt x="6599" y="72566"/>
                    <a:pt x="23109" y="30656"/>
                    <a:pt x="38349" y="15416"/>
                  </a:cubicBezTo>
                  <a:cubicBezTo>
                    <a:pt x="48509" y="5256"/>
                    <a:pt x="59939" y="2716"/>
                    <a:pt x="71369" y="1446"/>
                  </a:cubicBezTo>
                  <a:cubicBezTo>
                    <a:pt x="82799" y="176"/>
                    <a:pt x="98039" y="1446"/>
                    <a:pt x="104389" y="7796"/>
                  </a:cubicBezTo>
                  <a:cubicBezTo>
                    <a:pt x="110739" y="14146"/>
                    <a:pt x="114549" y="29386"/>
                    <a:pt x="112009" y="37006"/>
                  </a:cubicBezTo>
                  <a:cubicBezTo>
                    <a:pt x="109469" y="44626"/>
                    <a:pt x="87879" y="53516"/>
                    <a:pt x="87879" y="53516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380855" y="2750351"/>
            <a:ext cx="171450" cy="267653"/>
            <a:chOff x="0" y="0"/>
            <a:chExt cx="228600" cy="356870"/>
          </a:xfrm>
        </p:grpSpPr>
        <p:sp>
          <p:nvSpPr>
            <p:cNvPr id="20" name="Freeform 20"/>
            <p:cNvSpPr/>
            <p:nvPr/>
          </p:nvSpPr>
          <p:spPr>
            <a:xfrm>
              <a:off x="50184" y="50718"/>
              <a:ext cx="126346" cy="254646"/>
            </a:xfrm>
            <a:custGeom>
              <a:avLst/>
              <a:gdLst/>
              <a:ahLst/>
              <a:cxnLst/>
              <a:rect l="l" t="t" r="r" b="b"/>
              <a:pathLst>
                <a:path w="126346" h="254646">
                  <a:moveTo>
                    <a:pt x="48876" y="12782"/>
                  </a:moveTo>
                  <a:cubicBezTo>
                    <a:pt x="123806" y="240112"/>
                    <a:pt x="114916" y="249002"/>
                    <a:pt x="107296" y="252812"/>
                  </a:cubicBezTo>
                  <a:cubicBezTo>
                    <a:pt x="99676" y="255352"/>
                    <a:pt x="86976" y="252812"/>
                    <a:pt x="80626" y="249002"/>
                  </a:cubicBezTo>
                  <a:cubicBezTo>
                    <a:pt x="75546" y="245192"/>
                    <a:pt x="70466" y="238842"/>
                    <a:pt x="69196" y="232492"/>
                  </a:cubicBezTo>
                  <a:cubicBezTo>
                    <a:pt x="69196" y="223602"/>
                    <a:pt x="79356" y="203282"/>
                    <a:pt x="86976" y="198202"/>
                  </a:cubicBezTo>
                  <a:cubicBezTo>
                    <a:pt x="94596" y="195662"/>
                    <a:pt x="108566" y="196932"/>
                    <a:pt x="113646" y="202012"/>
                  </a:cubicBezTo>
                  <a:cubicBezTo>
                    <a:pt x="121266" y="208362"/>
                    <a:pt x="127616" y="227412"/>
                    <a:pt x="125076" y="235032"/>
                  </a:cubicBezTo>
                  <a:cubicBezTo>
                    <a:pt x="121266" y="243922"/>
                    <a:pt x="104756" y="254082"/>
                    <a:pt x="95866" y="254082"/>
                  </a:cubicBezTo>
                  <a:cubicBezTo>
                    <a:pt x="86976" y="254082"/>
                    <a:pt x="75546" y="247732"/>
                    <a:pt x="73006" y="240112"/>
                  </a:cubicBezTo>
                  <a:cubicBezTo>
                    <a:pt x="69196" y="231222"/>
                    <a:pt x="76816" y="205822"/>
                    <a:pt x="84436" y="199472"/>
                  </a:cubicBezTo>
                  <a:cubicBezTo>
                    <a:pt x="90786" y="195662"/>
                    <a:pt x="104756" y="196932"/>
                    <a:pt x="111106" y="200742"/>
                  </a:cubicBezTo>
                  <a:cubicBezTo>
                    <a:pt x="118726" y="204552"/>
                    <a:pt x="126346" y="215982"/>
                    <a:pt x="126346" y="223602"/>
                  </a:cubicBezTo>
                  <a:cubicBezTo>
                    <a:pt x="126346" y="231222"/>
                    <a:pt x="119996" y="245192"/>
                    <a:pt x="113646" y="249002"/>
                  </a:cubicBezTo>
                  <a:cubicBezTo>
                    <a:pt x="107296" y="254082"/>
                    <a:pt x="94596" y="256622"/>
                    <a:pt x="86976" y="252812"/>
                  </a:cubicBezTo>
                  <a:cubicBezTo>
                    <a:pt x="75546" y="246462"/>
                    <a:pt x="66656" y="223602"/>
                    <a:pt x="56496" y="200742"/>
                  </a:cubicBezTo>
                  <a:cubicBezTo>
                    <a:pt x="38716" y="160102"/>
                    <a:pt x="-5734" y="58502"/>
                    <a:pt x="616" y="26752"/>
                  </a:cubicBezTo>
                  <a:cubicBezTo>
                    <a:pt x="3156" y="12782"/>
                    <a:pt x="13316" y="2622"/>
                    <a:pt x="22206" y="82"/>
                  </a:cubicBezTo>
                  <a:cubicBezTo>
                    <a:pt x="29826" y="-1188"/>
                    <a:pt x="48876" y="12782"/>
                    <a:pt x="48876" y="12782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9410224" y="2750351"/>
            <a:ext cx="223838" cy="255270"/>
            <a:chOff x="0" y="0"/>
            <a:chExt cx="298450" cy="340360"/>
          </a:xfrm>
        </p:grpSpPr>
        <p:sp>
          <p:nvSpPr>
            <p:cNvPr id="22" name="Freeform 22"/>
            <p:cNvSpPr/>
            <p:nvPr/>
          </p:nvSpPr>
          <p:spPr>
            <a:xfrm>
              <a:off x="49611" y="50800"/>
              <a:ext cx="202349" cy="237886"/>
            </a:xfrm>
            <a:custGeom>
              <a:avLst/>
              <a:gdLst/>
              <a:ahLst/>
              <a:cxnLst/>
              <a:rect l="l" t="t" r="r" b="b"/>
              <a:pathLst>
                <a:path w="202349" h="237886">
                  <a:moveTo>
                    <a:pt x="25319" y="0"/>
                  </a:moveTo>
                  <a:cubicBezTo>
                    <a:pt x="158669" y="30480"/>
                    <a:pt x="187879" y="50800"/>
                    <a:pt x="198039" y="74930"/>
                  </a:cubicBezTo>
                  <a:cubicBezTo>
                    <a:pt x="208199" y="100330"/>
                    <a:pt x="198039" y="143510"/>
                    <a:pt x="191689" y="166370"/>
                  </a:cubicBezTo>
                  <a:cubicBezTo>
                    <a:pt x="186609" y="181610"/>
                    <a:pt x="180259" y="190500"/>
                    <a:pt x="168829" y="200660"/>
                  </a:cubicBezTo>
                  <a:cubicBezTo>
                    <a:pt x="153589" y="215900"/>
                    <a:pt x="121839" y="237490"/>
                    <a:pt x="104059" y="237490"/>
                  </a:cubicBezTo>
                  <a:cubicBezTo>
                    <a:pt x="93899" y="238760"/>
                    <a:pt x="83739" y="232410"/>
                    <a:pt x="79929" y="226060"/>
                  </a:cubicBezTo>
                  <a:cubicBezTo>
                    <a:pt x="74849" y="219710"/>
                    <a:pt x="71039" y="205740"/>
                    <a:pt x="74849" y="198120"/>
                  </a:cubicBezTo>
                  <a:cubicBezTo>
                    <a:pt x="79929" y="189230"/>
                    <a:pt x="105329" y="176530"/>
                    <a:pt x="114219" y="180340"/>
                  </a:cubicBezTo>
                  <a:cubicBezTo>
                    <a:pt x="123109" y="184150"/>
                    <a:pt x="133269" y="210820"/>
                    <a:pt x="130729" y="220980"/>
                  </a:cubicBezTo>
                  <a:cubicBezTo>
                    <a:pt x="126919" y="229870"/>
                    <a:pt x="107869" y="240030"/>
                    <a:pt x="97709" y="237490"/>
                  </a:cubicBezTo>
                  <a:cubicBezTo>
                    <a:pt x="88819" y="234950"/>
                    <a:pt x="72309" y="214630"/>
                    <a:pt x="73579" y="201930"/>
                  </a:cubicBezTo>
                  <a:cubicBezTo>
                    <a:pt x="76119" y="184150"/>
                    <a:pt x="128189" y="165100"/>
                    <a:pt x="138349" y="143510"/>
                  </a:cubicBezTo>
                  <a:cubicBezTo>
                    <a:pt x="148509" y="127000"/>
                    <a:pt x="153589" y="104140"/>
                    <a:pt x="147239" y="90170"/>
                  </a:cubicBezTo>
                  <a:cubicBezTo>
                    <a:pt x="139619" y="76200"/>
                    <a:pt x="116759" y="69850"/>
                    <a:pt x="97709" y="62230"/>
                  </a:cubicBezTo>
                  <a:cubicBezTo>
                    <a:pt x="73579" y="53340"/>
                    <a:pt x="21509" y="57150"/>
                    <a:pt x="7539" y="44450"/>
                  </a:cubicBezTo>
                  <a:cubicBezTo>
                    <a:pt x="-81" y="38100"/>
                    <a:pt x="-1351" y="24130"/>
                    <a:pt x="1189" y="16510"/>
                  </a:cubicBezTo>
                  <a:cubicBezTo>
                    <a:pt x="3729" y="8890"/>
                    <a:pt x="25319" y="0"/>
                    <a:pt x="25319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855397"/>
            <a:ext cx="16230600" cy="0"/>
          </a:xfrm>
          <a:prstGeom prst="line">
            <a:avLst/>
          </a:prstGeom>
          <a:ln w="47625" cap="flat">
            <a:solidFill>
              <a:srgbClr val="043E6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580045"/>
            <a:ext cx="10861634" cy="811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AIMS &amp; SIGNIFICANCE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347731"/>
            <a:ext cx="16230600" cy="35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0"/>
              </a:lnSpc>
            </a:pPr>
            <a:r>
              <a:rPr lang="en-US" sz="2400" b="1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Innovations: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2170075"/>
            <a:ext cx="16230600" cy="1980157"/>
            <a:chOff x="0" y="0"/>
            <a:chExt cx="4274726" cy="5215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521523"/>
            </a:xfrm>
            <a:custGeom>
              <a:avLst/>
              <a:gdLst/>
              <a:ahLst/>
              <a:cxnLst/>
              <a:rect l="l" t="t" r="r" b="b"/>
              <a:pathLst>
                <a:path w="4274726" h="52152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497196"/>
                  </a:lnTo>
                  <a:cubicBezTo>
                    <a:pt x="4274726" y="503648"/>
                    <a:pt x="4272163" y="509836"/>
                    <a:pt x="4267601" y="514398"/>
                  </a:cubicBezTo>
                  <a:cubicBezTo>
                    <a:pt x="4263039" y="518960"/>
                    <a:pt x="4256851" y="521523"/>
                    <a:pt x="4250399" y="521523"/>
                  </a:cubicBezTo>
                  <a:lnTo>
                    <a:pt x="24327" y="521523"/>
                  </a:lnTo>
                  <a:cubicBezTo>
                    <a:pt x="10891" y="521523"/>
                    <a:pt x="0" y="510631"/>
                    <a:pt x="0" y="49719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CFCFCF">
                <a:alpha val="2392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4274726" cy="511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50975" y="2440860"/>
            <a:ext cx="15186049" cy="134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00" b="1">
                <a:solidFill>
                  <a:srgbClr val="6060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Aim</a:t>
            </a:r>
            <a:r>
              <a:rPr lang="en-US" sz="24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: Validate whether a zero-cost, static RAG system can generate personalized, logistically coherent travel itineraries for Cagayan de Oro using only prompt engineering and curated local data.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3004" y="7248426"/>
            <a:ext cx="15949726" cy="271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Demonstrates that static RAG can achieve high accuracy</a:t>
            </a:r>
            <a:r>
              <a:rPr lang="en-US" sz="2400" b="1">
                <a:solidFill>
                  <a:srgbClr val="6060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(0% hallucination)</a:t>
            </a:r>
            <a:r>
              <a:rPr lang="en-US" sz="24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Provides an </a:t>
            </a:r>
            <a:r>
              <a:rPr lang="en-US" sz="2400" b="1">
                <a:solidFill>
                  <a:srgbClr val="6060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open-source, replicable framework</a:t>
            </a:r>
            <a:r>
              <a:rPr lang="en-US" sz="24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for other cities.</a:t>
            </a:r>
          </a:p>
          <a:p>
            <a:pPr marL="518160" lvl="1" indent="-259080" algn="just">
              <a:lnSpc>
                <a:spcPts val="3600"/>
              </a:lnSpc>
              <a:buFont typeface="Arial"/>
              <a:buChar char="•"/>
            </a:pPr>
            <a:r>
              <a:rPr lang="en-US" sz="24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Sustainable, replicable framework for regional tourism in developing areas—empowering local governments with minimal technical expertise.</a:t>
            </a:r>
          </a:p>
          <a:p>
            <a:pPr algn="just">
              <a:lnSpc>
                <a:spcPts val="3600"/>
              </a:lnSpc>
            </a:pPr>
            <a:endParaRPr lang="en-US" sz="2400">
              <a:solidFill>
                <a:srgbClr val="60606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3600"/>
              </a:lnSpc>
            </a:pPr>
            <a:endParaRPr lang="en-US" sz="2400">
              <a:solidFill>
                <a:srgbClr val="606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028700" y="4890629"/>
            <a:ext cx="7572520" cy="1434349"/>
            <a:chOff x="0" y="0"/>
            <a:chExt cx="1994436" cy="3776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94436" cy="377611"/>
            </a:xfrm>
            <a:custGeom>
              <a:avLst/>
              <a:gdLst/>
              <a:ahLst/>
              <a:cxnLst/>
              <a:rect l="l" t="t" r="r" b="b"/>
              <a:pathLst>
                <a:path w="1994436" h="377611">
                  <a:moveTo>
                    <a:pt x="1994436" y="10224"/>
                  </a:moveTo>
                  <a:lnTo>
                    <a:pt x="1994436" y="367387"/>
                  </a:lnTo>
                  <a:cubicBezTo>
                    <a:pt x="1994436" y="370099"/>
                    <a:pt x="1993359" y="372699"/>
                    <a:pt x="1991441" y="374617"/>
                  </a:cubicBezTo>
                  <a:cubicBezTo>
                    <a:pt x="1989524" y="376534"/>
                    <a:pt x="1986923" y="377611"/>
                    <a:pt x="1984212" y="377611"/>
                  </a:cubicBezTo>
                  <a:lnTo>
                    <a:pt x="10224" y="377611"/>
                  </a:lnTo>
                  <a:cubicBezTo>
                    <a:pt x="4577" y="377611"/>
                    <a:pt x="0" y="373034"/>
                    <a:pt x="0" y="367387"/>
                  </a:cubicBezTo>
                  <a:lnTo>
                    <a:pt x="0" y="10224"/>
                  </a:lnTo>
                  <a:cubicBezTo>
                    <a:pt x="0" y="4577"/>
                    <a:pt x="4577" y="0"/>
                    <a:pt x="10224" y="0"/>
                  </a:cubicBezTo>
                  <a:lnTo>
                    <a:pt x="1984212" y="0"/>
                  </a:lnTo>
                  <a:cubicBezTo>
                    <a:pt x="1989858" y="0"/>
                    <a:pt x="1994436" y="4577"/>
                    <a:pt x="1994436" y="10224"/>
                  </a:cubicBezTo>
                  <a:close/>
                </a:path>
              </a:pathLst>
            </a:custGeom>
            <a:solidFill>
              <a:srgbClr val="0D71B1">
                <a:alpha val="2392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1994436" cy="3680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46813" y="5228101"/>
            <a:ext cx="16230600" cy="285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Location Clustering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6813" y="5704297"/>
            <a:ext cx="7797187" cy="266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LLMs perform implicit route optimization through metadata</a:t>
            </a:r>
          </a:p>
        </p:txBody>
      </p:sp>
      <p:sp>
        <p:nvSpPr>
          <p:cNvPr id="15" name="AutoShape 15"/>
          <p:cNvSpPr/>
          <p:nvPr/>
        </p:nvSpPr>
        <p:spPr>
          <a:xfrm flipH="1">
            <a:off x="7587945" y="5607803"/>
            <a:ext cx="1013275" cy="96494"/>
          </a:xfrm>
          <a:prstGeom prst="line">
            <a:avLst/>
          </a:prstGeom>
          <a:ln w="38100" cap="rnd">
            <a:solidFill>
              <a:srgbClr val="ACB8C0">
                <a:alpha val="23922"/>
              </a:srgbClr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6" name="Group 16"/>
          <p:cNvGrpSpPr/>
          <p:nvPr/>
        </p:nvGrpSpPr>
        <p:grpSpPr>
          <a:xfrm>
            <a:off x="8997867" y="4890629"/>
            <a:ext cx="8261433" cy="1434349"/>
            <a:chOff x="0" y="0"/>
            <a:chExt cx="2175880" cy="37761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75880" cy="377611"/>
            </a:xfrm>
            <a:custGeom>
              <a:avLst/>
              <a:gdLst/>
              <a:ahLst/>
              <a:cxnLst/>
              <a:rect l="l" t="t" r="r" b="b"/>
              <a:pathLst>
                <a:path w="2175880" h="377611">
                  <a:moveTo>
                    <a:pt x="2175880" y="9371"/>
                  </a:moveTo>
                  <a:lnTo>
                    <a:pt x="2175880" y="368240"/>
                  </a:lnTo>
                  <a:cubicBezTo>
                    <a:pt x="2175880" y="373415"/>
                    <a:pt x="2171685" y="377611"/>
                    <a:pt x="2166509" y="377611"/>
                  </a:cubicBezTo>
                  <a:lnTo>
                    <a:pt x="9371" y="377611"/>
                  </a:lnTo>
                  <a:cubicBezTo>
                    <a:pt x="4196" y="377611"/>
                    <a:pt x="0" y="373415"/>
                    <a:pt x="0" y="368240"/>
                  </a:cubicBezTo>
                  <a:lnTo>
                    <a:pt x="0" y="9371"/>
                  </a:lnTo>
                  <a:cubicBezTo>
                    <a:pt x="0" y="4196"/>
                    <a:pt x="4196" y="0"/>
                    <a:pt x="9371" y="0"/>
                  </a:cubicBezTo>
                  <a:lnTo>
                    <a:pt x="2166509" y="0"/>
                  </a:lnTo>
                  <a:cubicBezTo>
                    <a:pt x="2171685" y="0"/>
                    <a:pt x="2175880" y="4196"/>
                    <a:pt x="2175880" y="9371"/>
                  </a:cubicBezTo>
                  <a:close/>
                </a:path>
              </a:pathLst>
            </a:custGeom>
            <a:solidFill>
              <a:srgbClr val="E0FFB8">
                <a:alpha val="2392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2175880" cy="3680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269257" y="5228101"/>
            <a:ext cx="16230600" cy="58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Zero-Cost Model</a:t>
            </a:r>
          </a:p>
          <a:p>
            <a:pPr algn="l">
              <a:lnSpc>
                <a:spcPts val="2399"/>
              </a:lnSpc>
              <a:spcBef>
                <a:spcPct val="0"/>
              </a:spcBef>
            </a:pPr>
            <a:endParaRPr lang="en-US" sz="19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269257" y="5704297"/>
            <a:ext cx="7797187" cy="266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 APIs, web scraping, or paid infrastructure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6648378"/>
            <a:ext cx="16230600" cy="35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0"/>
              </a:lnSpc>
            </a:pPr>
            <a:r>
              <a:rPr lang="en-US" sz="2400" b="1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Significance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855397"/>
            <a:ext cx="16230600" cy="0"/>
          </a:xfrm>
          <a:prstGeom prst="line">
            <a:avLst/>
          </a:prstGeom>
          <a:ln w="47625" cap="flat">
            <a:solidFill>
              <a:srgbClr val="043E6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580045"/>
            <a:ext cx="15330590" cy="165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RESEARCH PROBLEMS &amp; IDENTIFIED GAPS</a:t>
            </a:r>
          </a:p>
          <a:p>
            <a:pPr algn="l">
              <a:lnSpc>
                <a:spcPts val="6719"/>
              </a:lnSpc>
            </a:pPr>
            <a:endParaRPr lang="en-US" sz="4800" b="1">
              <a:solidFill>
                <a:srgbClr val="1D1D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248825"/>
            <a:ext cx="581526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Research Problem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88263" y="2694850"/>
            <a:ext cx="16230600" cy="1980157"/>
            <a:chOff x="0" y="0"/>
            <a:chExt cx="4274726" cy="5215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521523"/>
            </a:xfrm>
            <a:custGeom>
              <a:avLst/>
              <a:gdLst/>
              <a:ahLst/>
              <a:cxnLst/>
              <a:rect l="l" t="t" r="r" b="b"/>
              <a:pathLst>
                <a:path w="4274726" h="52152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497196"/>
                  </a:lnTo>
                  <a:cubicBezTo>
                    <a:pt x="4274726" y="503648"/>
                    <a:pt x="4272163" y="509836"/>
                    <a:pt x="4267601" y="514398"/>
                  </a:cubicBezTo>
                  <a:cubicBezTo>
                    <a:pt x="4263039" y="518960"/>
                    <a:pt x="4256851" y="521523"/>
                    <a:pt x="4250399" y="521523"/>
                  </a:cubicBezTo>
                  <a:lnTo>
                    <a:pt x="24327" y="521523"/>
                  </a:lnTo>
                  <a:cubicBezTo>
                    <a:pt x="10891" y="521523"/>
                    <a:pt x="0" y="510631"/>
                    <a:pt x="0" y="49719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CFCFCF">
                <a:alpha val="23922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4274726" cy="511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25880" y="2978214"/>
            <a:ext cx="16133420" cy="134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4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Commercial itinerary platforms require dynamic data and APIs-too costly for developing regions.</a:t>
            </a:r>
          </a:p>
          <a:p>
            <a:pPr algn="just">
              <a:lnSpc>
                <a:spcPts val="3600"/>
              </a:lnSpc>
            </a:pPr>
            <a:r>
              <a:rPr lang="en-US" sz="24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Question: </a:t>
            </a:r>
            <a:r>
              <a:rPr lang="en-US" sz="2400" b="1">
                <a:solidFill>
                  <a:srgbClr val="0D71B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Can a static, manually curated database + LLM prompt engineering generate grounded,</a:t>
            </a:r>
          </a:p>
          <a:p>
            <a:pPr algn="just">
              <a:lnSpc>
                <a:spcPts val="3600"/>
              </a:lnSpc>
            </a:pPr>
            <a:r>
              <a:rPr lang="en-US" sz="2400" b="1">
                <a:solidFill>
                  <a:srgbClr val="0D71B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logistically coherent itineraries?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807895"/>
            <a:ext cx="16230600" cy="714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0"/>
              </a:lnSpc>
            </a:pPr>
            <a:r>
              <a:rPr lang="en-US" sz="2400" b="1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Gaps in Existing Research</a:t>
            </a:r>
          </a:p>
          <a:p>
            <a:pPr algn="just">
              <a:lnSpc>
                <a:spcPts val="2880"/>
              </a:lnSpc>
            </a:pPr>
            <a:endParaRPr lang="en-US" sz="2400" b="1">
              <a:solidFill>
                <a:srgbClr val="1D1D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5379341"/>
            <a:ext cx="15949726" cy="3878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just">
              <a:lnSpc>
                <a:spcPts val="4440"/>
              </a:lnSpc>
              <a:buFont typeface="Arial"/>
              <a:buChar char="•"/>
            </a:pPr>
            <a:r>
              <a:rPr lang="en-US" sz="2400" b="1">
                <a:solidFill>
                  <a:srgbClr val="6060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Cost &amp; Sustainability Gap</a:t>
            </a:r>
          </a:p>
          <a:p>
            <a:pPr marL="1036320" lvl="2" indent="-345440" algn="just">
              <a:lnSpc>
                <a:spcPts val="4440"/>
              </a:lnSpc>
              <a:buFont typeface="Arial"/>
              <a:buChar char="⚬"/>
            </a:pPr>
            <a:r>
              <a:rPr lang="en-US" sz="24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No validated zero-cost, static approach for regional destinations</a:t>
            </a:r>
          </a:p>
          <a:p>
            <a:pPr marL="518160" lvl="1" indent="-259080" algn="just">
              <a:lnSpc>
                <a:spcPts val="4440"/>
              </a:lnSpc>
              <a:buFont typeface="Arial"/>
              <a:buChar char="•"/>
            </a:pPr>
            <a:r>
              <a:rPr lang="en-US" sz="2400" b="1">
                <a:solidFill>
                  <a:srgbClr val="60606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Logistical RAG Validation Gap</a:t>
            </a:r>
          </a:p>
          <a:p>
            <a:pPr marL="1036320" lvl="2" indent="-345440" algn="just">
              <a:lnSpc>
                <a:spcPts val="4440"/>
              </a:lnSpc>
              <a:buFont typeface="Arial"/>
              <a:buChar char="⚬"/>
            </a:pPr>
            <a:r>
              <a:rPr lang="en-US" sz="24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No empirical proof that static databases + prompt engineering achieve high logistical coherence</a:t>
            </a:r>
          </a:p>
          <a:p>
            <a:pPr marL="518160" lvl="1" indent="-259080" algn="just">
              <a:lnSpc>
                <a:spcPts val="4440"/>
              </a:lnSpc>
              <a:buFont typeface="Arial"/>
              <a:buChar char="•"/>
            </a:pPr>
            <a:r>
              <a:rPr lang="en-US" sz="2400" b="1">
                <a:solidFill>
                  <a:srgbClr val="60606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Replicable Framework Gap</a:t>
            </a:r>
          </a:p>
          <a:p>
            <a:pPr marL="1036320" lvl="2" indent="-345440" algn="just">
              <a:lnSpc>
                <a:spcPts val="4440"/>
              </a:lnSpc>
              <a:buFont typeface="Arial"/>
              <a:buChar char="⚬"/>
            </a:pPr>
            <a:r>
              <a:rPr lang="en-US" sz="24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Lack of open-source, community-driven framework for developing cities</a:t>
            </a:r>
          </a:p>
          <a:p>
            <a:pPr algn="just">
              <a:lnSpc>
                <a:spcPts val="4440"/>
              </a:lnSpc>
            </a:pPr>
            <a:endParaRPr lang="en-US" sz="2400">
              <a:solidFill>
                <a:srgbClr val="606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855397"/>
            <a:ext cx="16230600" cy="0"/>
          </a:xfrm>
          <a:prstGeom prst="line">
            <a:avLst/>
          </a:prstGeom>
          <a:ln w="47625" cap="flat">
            <a:solidFill>
              <a:srgbClr val="043E6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49576" y="3575430"/>
            <a:ext cx="5228341" cy="585919"/>
            <a:chOff x="0" y="0"/>
            <a:chExt cx="6971121" cy="78122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6971121" cy="781225"/>
              <a:chOff x="0" y="0"/>
              <a:chExt cx="3371017" cy="37761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371017" cy="377611"/>
              </a:xfrm>
              <a:custGeom>
                <a:avLst/>
                <a:gdLst/>
                <a:ahLst/>
                <a:cxnLst/>
                <a:rect l="l" t="t" r="r" b="b"/>
                <a:pathLst>
                  <a:path w="3371017" h="377611">
                    <a:moveTo>
                      <a:pt x="3371017" y="14808"/>
                    </a:moveTo>
                    <a:lnTo>
                      <a:pt x="3371017" y="362803"/>
                    </a:lnTo>
                    <a:cubicBezTo>
                      <a:pt x="3371017" y="370981"/>
                      <a:pt x="3364387" y="377611"/>
                      <a:pt x="3356209" y="377611"/>
                    </a:cubicBezTo>
                    <a:lnTo>
                      <a:pt x="14808" y="377611"/>
                    </a:lnTo>
                    <a:cubicBezTo>
                      <a:pt x="6630" y="377611"/>
                      <a:pt x="0" y="370981"/>
                      <a:pt x="0" y="362803"/>
                    </a:cubicBezTo>
                    <a:lnTo>
                      <a:pt x="0" y="14808"/>
                    </a:lnTo>
                    <a:cubicBezTo>
                      <a:pt x="0" y="6630"/>
                      <a:pt x="6630" y="0"/>
                      <a:pt x="14808" y="0"/>
                    </a:cubicBezTo>
                    <a:lnTo>
                      <a:pt x="3356209" y="0"/>
                    </a:lnTo>
                    <a:cubicBezTo>
                      <a:pt x="3364387" y="0"/>
                      <a:pt x="3371017" y="6630"/>
                      <a:pt x="3371017" y="14808"/>
                    </a:cubicBezTo>
                    <a:close/>
                  </a:path>
                </a:pathLst>
              </a:custGeom>
              <a:solidFill>
                <a:srgbClr val="22A9FF">
                  <a:alpha val="23922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9525"/>
                <a:ext cx="3371017" cy="3680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82057" y="130263"/>
              <a:ext cx="6789064" cy="4635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000"/>
                </a:lnSpc>
              </a:pPr>
              <a:r>
                <a:rPr lang="en-US" sz="2000" b="1">
                  <a:solidFill>
                    <a:srgbClr val="60606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location_cluster: </a:t>
              </a:r>
              <a:r>
                <a:rPr lang="en-US" sz="2000">
                  <a:solidFill>
                    <a:srgbClr val="60606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Geographic grouping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29829" y="3575430"/>
            <a:ext cx="5228341" cy="585919"/>
            <a:chOff x="0" y="0"/>
            <a:chExt cx="6971121" cy="781225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971121" cy="781225"/>
              <a:chOff x="0" y="0"/>
              <a:chExt cx="3371017" cy="37761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371017" cy="377611"/>
              </a:xfrm>
              <a:custGeom>
                <a:avLst/>
                <a:gdLst/>
                <a:ahLst/>
                <a:cxnLst/>
                <a:rect l="l" t="t" r="r" b="b"/>
                <a:pathLst>
                  <a:path w="3371017" h="377611">
                    <a:moveTo>
                      <a:pt x="3371017" y="14808"/>
                    </a:moveTo>
                    <a:lnTo>
                      <a:pt x="3371017" y="362803"/>
                    </a:lnTo>
                    <a:cubicBezTo>
                      <a:pt x="3371017" y="370981"/>
                      <a:pt x="3364387" y="377611"/>
                      <a:pt x="3356209" y="377611"/>
                    </a:cubicBezTo>
                    <a:lnTo>
                      <a:pt x="14808" y="377611"/>
                    </a:lnTo>
                    <a:cubicBezTo>
                      <a:pt x="6630" y="377611"/>
                      <a:pt x="0" y="370981"/>
                      <a:pt x="0" y="362803"/>
                    </a:cubicBezTo>
                    <a:lnTo>
                      <a:pt x="0" y="14808"/>
                    </a:lnTo>
                    <a:cubicBezTo>
                      <a:pt x="0" y="6630"/>
                      <a:pt x="6630" y="0"/>
                      <a:pt x="14808" y="0"/>
                    </a:cubicBezTo>
                    <a:lnTo>
                      <a:pt x="3356209" y="0"/>
                    </a:lnTo>
                    <a:cubicBezTo>
                      <a:pt x="3364387" y="0"/>
                      <a:pt x="3371017" y="6630"/>
                      <a:pt x="3371017" y="14808"/>
                    </a:cubicBezTo>
                    <a:close/>
                  </a:path>
                </a:pathLst>
              </a:custGeom>
              <a:solidFill>
                <a:srgbClr val="22A9FF">
                  <a:alpha val="23922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9525"/>
                <a:ext cx="3371017" cy="3680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82057" y="130263"/>
              <a:ext cx="6789064" cy="4635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000"/>
                </a:lnSpc>
              </a:pPr>
              <a:r>
                <a:rPr lang="en-US" sz="2000" b="1">
                  <a:solidFill>
                    <a:srgbClr val="60606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price_range:</a:t>
              </a:r>
              <a:r>
                <a:rPr lang="en-US" sz="2000">
                  <a:solidFill>
                    <a:srgbClr val="60606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Budget filtering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005821" y="3575430"/>
            <a:ext cx="5228341" cy="585919"/>
            <a:chOff x="0" y="0"/>
            <a:chExt cx="6971121" cy="781225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6971121" cy="781225"/>
              <a:chOff x="0" y="0"/>
              <a:chExt cx="3371017" cy="37761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371017" cy="377611"/>
              </a:xfrm>
              <a:custGeom>
                <a:avLst/>
                <a:gdLst/>
                <a:ahLst/>
                <a:cxnLst/>
                <a:rect l="l" t="t" r="r" b="b"/>
                <a:pathLst>
                  <a:path w="3371017" h="377611">
                    <a:moveTo>
                      <a:pt x="3371017" y="14808"/>
                    </a:moveTo>
                    <a:lnTo>
                      <a:pt x="3371017" y="362803"/>
                    </a:lnTo>
                    <a:cubicBezTo>
                      <a:pt x="3371017" y="370981"/>
                      <a:pt x="3364387" y="377611"/>
                      <a:pt x="3356209" y="377611"/>
                    </a:cubicBezTo>
                    <a:lnTo>
                      <a:pt x="14808" y="377611"/>
                    </a:lnTo>
                    <a:cubicBezTo>
                      <a:pt x="6630" y="377611"/>
                      <a:pt x="0" y="370981"/>
                      <a:pt x="0" y="362803"/>
                    </a:cubicBezTo>
                    <a:lnTo>
                      <a:pt x="0" y="14808"/>
                    </a:lnTo>
                    <a:cubicBezTo>
                      <a:pt x="0" y="6630"/>
                      <a:pt x="6630" y="0"/>
                      <a:pt x="14808" y="0"/>
                    </a:cubicBezTo>
                    <a:lnTo>
                      <a:pt x="3356209" y="0"/>
                    </a:lnTo>
                    <a:cubicBezTo>
                      <a:pt x="3364387" y="0"/>
                      <a:pt x="3371017" y="6630"/>
                      <a:pt x="3371017" y="14808"/>
                    </a:cubicBezTo>
                    <a:close/>
                  </a:path>
                </a:pathLst>
              </a:custGeom>
              <a:solidFill>
                <a:srgbClr val="22A9FF">
                  <a:alpha val="23922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9525"/>
                <a:ext cx="3371017" cy="3680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82057" y="130263"/>
              <a:ext cx="6789064" cy="4635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000"/>
                </a:lnSpc>
              </a:pPr>
              <a:r>
                <a:rPr lang="en-US" sz="2000" b="1">
                  <a:solidFill>
                    <a:srgbClr val="60606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avg_time_hours: </a:t>
              </a:r>
              <a:r>
                <a:rPr lang="en-US" sz="2000">
                  <a:solidFill>
                    <a:srgbClr val="60606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Time constraints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49576" y="5237647"/>
            <a:ext cx="689891" cy="68989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A9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580045"/>
            <a:ext cx="17710473" cy="7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1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METHODOLOGY: THREE-STAGE RAG ARCHITECTURE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9576" y="2366959"/>
            <a:ext cx="16230600" cy="714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0"/>
              </a:lnSpc>
            </a:pPr>
            <a:r>
              <a:rPr lang="en-US" sz="2400" b="1">
                <a:solidFill>
                  <a:srgbClr val="0D71B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Static Database (45 POIs)</a:t>
            </a:r>
          </a:p>
          <a:p>
            <a:pPr algn="just">
              <a:lnSpc>
                <a:spcPts val="2880"/>
              </a:lnSpc>
            </a:pPr>
            <a:endParaRPr lang="en-US" sz="2400" b="1">
              <a:solidFill>
                <a:srgbClr val="0D71B1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70452" y="2871730"/>
            <a:ext cx="1518604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Manual curation from TripAdvisor, CDO Tourism Office, Google Maps, and local blogs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9576" y="4647124"/>
            <a:ext cx="16230600" cy="35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80"/>
              </a:lnSpc>
            </a:pPr>
            <a:r>
              <a:rPr lang="en-US" sz="2400" b="1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Static RAG Architecture (3 Stages)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78276" y="5272034"/>
            <a:ext cx="16230600" cy="285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Preference Extraction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78276" y="5636002"/>
            <a:ext cx="7797187" cy="266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LLM parses query → structured JSON (duration, interests, budget)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70452" y="6194237"/>
            <a:ext cx="689891" cy="689891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A9F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099152" y="6228625"/>
            <a:ext cx="16230600" cy="285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  <a:spcBef>
                <a:spcPct val="0"/>
              </a:spcBef>
            </a:pPr>
            <a:r>
              <a:rPr lang="en-US" sz="19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Deterministic Filtering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99152" y="6592593"/>
            <a:ext cx="7797187" cy="266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Pandas applies hard filters + fixed seed sorting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49576" y="7150828"/>
            <a:ext cx="689891" cy="689891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A9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2078276" y="7175691"/>
            <a:ext cx="1623060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Grounded Generation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078276" y="7549184"/>
            <a:ext cx="7797187" cy="266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LLM creates itinerary with clustering, time &amp; budget constraints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28700" y="8410293"/>
            <a:ext cx="16251476" cy="848007"/>
            <a:chOff x="0" y="0"/>
            <a:chExt cx="21668635" cy="1130676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21668635" cy="1130676"/>
              <a:chOff x="0" y="0"/>
              <a:chExt cx="4280224" cy="22334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280224" cy="223343"/>
              </a:xfrm>
              <a:custGeom>
                <a:avLst/>
                <a:gdLst/>
                <a:ahLst/>
                <a:cxnLst/>
                <a:rect l="l" t="t" r="r" b="b"/>
                <a:pathLst>
                  <a:path w="4280224" h="223343">
                    <a:moveTo>
                      <a:pt x="2382" y="0"/>
                    </a:moveTo>
                    <a:lnTo>
                      <a:pt x="4277842" y="0"/>
                    </a:lnTo>
                    <a:cubicBezTo>
                      <a:pt x="4278474" y="0"/>
                      <a:pt x="4279080" y="251"/>
                      <a:pt x="4279526" y="698"/>
                    </a:cubicBezTo>
                    <a:cubicBezTo>
                      <a:pt x="4279973" y="1144"/>
                      <a:pt x="4280224" y="1750"/>
                      <a:pt x="4280224" y="2382"/>
                    </a:cubicBezTo>
                    <a:lnTo>
                      <a:pt x="4280224" y="220961"/>
                    </a:lnTo>
                    <a:cubicBezTo>
                      <a:pt x="4280224" y="221593"/>
                      <a:pt x="4279973" y="222199"/>
                      <a:pt x="4279526" y="222646"/>
                    </a:cubicBezTo>
                    <a:cubicBezTo>
                      <a:pt x="4279080" y="223092"/>
                      <a:pt x="4278474" y="223343"/>
                      <a:pt x="4277842" y="223343"/>
                    </a:cubicBezTo>
                    <a:lnTo>
                      <a:pt x="2382" y="223343"/>
                    </a:lnTo>
                    <a:cubicBezTo>
                      <a:pt x="1750" y="223343"/>
                      <a:pt x="1144" y="223092"/>
                      <a:pt x="698" y="222646"/>
                    </a:cubicBezTo>
                    <a:cubicBezTo>
                      <a:pt x="251" y="222199"/>
                      <a:pt x="0" y="221593"/>
                      <a:pt x="0" y="220961"/>
                    </a:cubicBezTo>
                    <a:lnTo>
                      <a:pt x="0" y="2382"/>
                    </a:lnTo>
                    <a:cubicBezTo>
                      <a:pt x="0" y="1750"/>
                      <a:pt x="251" y="1144"/>
                      <a:pt x="698" y="698"/>
                    </a:cubicBezTo>
                    <a:cubicBezTo>
                      <a:pt x="1144" y="251"/>
                      <a:pt x="1750" y="0"/>
                      <a:pt x="2382" y="0"/>
                    </a:cubicBezTo>
                    <a:close/>
                  </a:path>
                </a:pathLst>
              </a:custGeom>
              <a:solidFill>
                <a:srgbClr val="CFCFCF">
                  <a:alpha val="23922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9525"/>
                <a:ext cx="4280224" cy="2138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490682" y="319790"/>
              <a:ext cx="20969609" cy="4229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40"/>
                </a:lnSpc>
              </a:pPr>
              <a:r>
                <a:rPr lang="en-US" sz="2000" b="1">
                  <a:solidFill>
                    <a:srgbClr val="60606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Tech Stack: </a:t>
              </a:r>
              <a:r>
                <a:rPr lang="en-US" sz="2000">
                  <a:solidFill>
                    <a:srgbClr val="60606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Google Gemini 2.5 Flash (free tier), Pure Python/Pandas operations (no LLM involvement), Streamlit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415388"/>
            <a:ext cx="16331303" cy="0"/>
          </a:xfrm>
          <a:prstGeom prst="line">
            <a:avLst/>
          </a:prstGeom>
          <a:ln w="47625" cap="flat">
            <a:solidFill>
              <a:srgbClr val="043E6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580045"/>
            <a:ext cx="17259300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 ACHIEVED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476771"/>
            <a:ext cx="6822526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  <a:spcBef>
                <a:spcPct val="0"/>
              </a:spcBef>
            </a:pPr>
            <a:r>
              <a:rPr lang="en-US" sz="1500" b="1">
                <a:solidFill>
                  <a:srgbClr val="043E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Published Research Findings (from SmartTrip CDO Research Paper)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08983" y="1476771"/>
            <a:ext cx="9251020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  <a:spcBef>
                <a:spcPct val="0"/>
              </a:spcBef>
            </a:pPr>
            <a:r>
              <a:rPr lang="en-US" sz="1500" b="1">
                <a:solidFill>
                  <a:srgbClr val="043E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Baseline Comparison (from Table 3 of the research paper)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877367"/>
              </p:ext>
            </p:extLst>
          </p:nvPr>
        </p:nvGraphicFramePr>
        <p:xfrm>
          <a:off x="8108983" y="1776278"/>
          <a:ext cx="9360665" cy="3589129"/>
        </p:xfrm>
        <a:graphic>
          <a:graphicData uri="http://schemas.openxmlformats.org/drawingml/2006/table">
            <a:tbl>
              <a:tblPr/>
              <a:tblGrid>
                <a:gridCol w="2482817"/>
                <a:gridCol w="1219200"/>
                <a:gridCol w="1551721"/>
                <a:gridCol w="1667304"/>
                <a:gridCol w="2439623"/>
              </a:tblGrid>
              <a:tr h="1026979">
                <a:tc>
                  <a:txBody>
                    <a:bodyPr/>
                    <a:lstStyle/>
                    <a:p>
                      <a:pPr algn="ctr" rtl="0"/>
                      <a:r>
                        <a:rPr lang="en-PH" b="1" i="0" dirty="0">
                          <a:solidFill>
                            <a:srgbClr val="000000"/>
                          </a:solidFill>
                          <a:effectLst/>
                        </a:rPr>
                        <a:t>Metric</a:t>
                      </a:r>
                      <a:endParaRPr lang="en-PH" dirty="0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Target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 dirty="0" err="1">
                          <a:solidFill>
                            <a:srgbClr val="000000"/>
                          </a:solidFill>
                          <a:effectLst/>
                        </a:rPr>
                        <a:t>SmartTrip</a:t>
                      </a:r>
                      <a:r>
                        <a:rPr lang="en-PH" b="1" i="0" dirty="0">
                          <a:solidFill>
                            <a:srgbClr val="000000"/>
                          </a:solidFill>
                          <a:effectLst/>
                        </a:rPr>
                        <a:t> CDO</a:t>
                      </a:r>
                      <a:endParaRPr lang="en-PH" dirty="0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Pure LLM</a:t>
                      </a:r>
                      <a:endParaRPr lang="en-PH">
                        <a:effectLst/>
                      </a:endParaRPr>
                    </a:p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(Expected)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Random Selection (Expected)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382">
                <a:tc>
                  <a:txBody>
                    <a:bodyPr/>
                    <a:lstStyle/>
                    <a:p>
                      <a:pPr algn="l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Hallucination Rate (HR) 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 dirty="0">
                          <a:solidFill>
                            <a:srgbClr val="000000"/>
                          </a:solidFill>
                          <a:effectLst/>
                        </a:rPr>
                        <a:t>0.0%</a:t>
                      </a:r>
                      <a:endParaRPr lang="en-PH" dirty="0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30-50%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2004">
                <a:tc>
                  <a:txBody>
                    <a:bodyPr/>
                    <a:lstStyle/>
                    <a:p>
                      <a:pPr algn="l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Clustering Efficiency (CE)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80%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70.3%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N/A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 dirty="0">
                          <a:solidFill>
                            <a:srgbClr val="000000"/>
                          </a:solidFill>
                          <a:effectLst/>
                        </a:rPr>
                        <a:t>20-30%</a:t>
                      </a:r>
                      <a:endParaRPr lang="en-PH" dirty="0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382">
                <a:tc>
                  <a:txBody>
                    <a:bodyPr/>
                    <a:lstStyle/>
                    <a:p>
                      <a:pPr algn="l" rtl="0"/>
                      <a:r>
                        <a:rPr lang="en-PH" b="1" i="0" dirty="0">
                          <a:solidFill>
                            <a:srgbClr val="000000"/>
                          </a:solidFill>
                          <a:effectLst/>
                        </a:rPr>
                        <a:t>Budget Variance (BV) </a:t>
                      </a:r>
                      <a:endParaRPr lang="en-PH" dirty="0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 dirty="0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en-PH" dirty="0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51.02%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15-25%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25-40%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382">
                <a:tc>
                  <a:txBody>
                    <a:bodyPr/>
                    <a:lstStyle/>
                    <a:p>
                      <a:pPr algn="l" rtl="0"/>
                      <a:r>
                        <a:rPr lang="en-PH" b="1" i="0" dirty="0">
                          <a:solidFill>
                            <a:srgbClr val="000000"/>
                          </a:solidFill>
                          <a:effectLst/>
                        </a:rPr>
                        <a:t>Narrative Quality (NQ) </a:t>
                      </a:r>
                      <a:endParaRPr lang="en-PH" b="1" dirty="0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4-5/5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4.35/5.0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3-4/5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 dirty="0">
                          <a:solidFill>
                            <a:srgbClr val="000000"/>
                          </a:solidFill>
                          <a:effectLst/>
                        </a:rPr>
                        <a:t>2-3/5</a:t>
                      </a:r>
                      <a:endParaRPr lang="en-PH" dirty="0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919883"/>
              </p:ext>
            </p:extLst>
          </p:nvPr>
        </p:nvGraphicFramePr>
        <p:xfrm>
          <a:off x="1028700" y="1761992"/>
          <a:ext cx="6925756" cy="3686306"/>
        </p:xfrm>
        <a:graphic>
          <a:graphicData uri="http://schemas.openxmlformats.org/drawingml/2006/table">
            <a:tbl>
              <a:tblPr/>
              <a:tblGrid>
                <a:gridCol w="2467230"/>
                <a:gridCol w="972861"/>
                <a:gridCol w="1375980"/>
                <a:gridCol w="2109685"/>
              </a:tblGrid>
              <a:tr h="737767">
                <a:tc>
                  <a:txBody>
                    <a:bodyPr/>
                    <a:lstStyle/>
                    <a:p>
                      <a:pPr algn="ctr" rtl="0"/>
                      <a:r>
                        <a:rPr lang="en-PH" b="1" i="0" dirty="0">
                          <a:solidFill>
                            <a:srgbClr val="000000"/>
                          </a:solidFill>
                          <a:effectLst/>
                        </a:rPr>
                        <a:t>Metric</a:t>
                      </a:r>
                      <a:endParaRPr lang="en-PH" dirty="0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Target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Achieved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Status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767">
                <a:tc>
                  <a:txBody>
                    <a:bodyPr/>
                    <a:lstStyle/>
                    <a:p>
                      <a:pPr algn="l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Hallucination Rate (HR) 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0%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0.0%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PASS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767">
                <a:tc>
                  <a:txBody>
                    <a:bodyPr/>
                    <a:lstStyle/>
                    <a:p>
                      <a:pPr algn="l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Clustering Efficiency (CE)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80%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 dirty="0">
                          <a:solidFill>
                            <a:srgbClr val="000000"/>
                          </a:solidFill>
                          <a:effectLst/>
                        </a:rPr>
                        <a:t>70.3%</a:t>
                      </a:r>
                      <a:endParaRPr lang="en-PH" dirty="0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BELOW TARGET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7767">
                <a:tc>
                  <a:txBody>
                    <a:bodyPr/>
                    <a:lstStyle/>
                    <a:p>
                      <a:pPr algn="l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Budget Variance (BV)</a:t>
                      </a:r>
                      <a:r>
                        <a:rPr lang="en-PH" b="0" i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10%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51.02%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ABOVE TARGET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5238">
                <a:tc>
                  <a:txBody>
                    <a:bodyPr/>
                    <a:lstStyle/>
                    <a:p>
                      <a:pPr algn="l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Narrative Quality (NQ) 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4-5/5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 dirty="0">
                          <a:solidFill>
                            <a:srgbClr val="000000"/>
                          </a:solidFill>
                          <a:effectLst/>
                        </a:rPr>
                        <a:t>4.35/5.0</a:t>
                      </a:r>
                      <a:endParaRPr lang="en-PH" dirty="0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 dirty="0">
                          <a:solidFill>
                            <a:srgbClr val="000000"/>
                          </a:solidFill>
                          <a:effectLst/>
                        </a:rPr>
                        <a:t>PASS</a:t>
                      </a:r>
                      <a:endParaRPr lang="en-PH" dirty="0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746618"/>
              </p:ext>
            </p:extLst>
          </p:nvPr>
        </p:nvGraphicFramePr>
        <p:xfrm>
          <a:off x="1028700" y="5905500"/>
          <a:ext cx="9720542" cy="3527051"/>
        </p:xfrm>
        <a:graphic>
          <a:graphicData uri="http://schemas.openxmlformats.org/drawingml/2006/table">
            <a:tbl>
              <a:tblPr/>
              <a:tblGrid>
                <a:gridCol w="2532577"/>
                <a:gridCol w="1282471"/>
                <a:gridCol w="2095661"/>
                <a:gridCol w="3809833"/>
              </a:tblGrid>
              <a:tr h="700527">
                <a:tc>
                  <a:txBody>
                    <a:bodyPr/>
                    <a:lstStyle/>
                    <a:p>
                      <a:pPr algn="ctr" rtl="0"/>
                      <a:r>
                        <a:rPr lang="en-PH" b="1" i="0" dirty="0">
                          <a:solidFill>
                            <a:srgbClr val="000000"/>
                          </a:solidFill>
                          <a:effectLst/>
                        </a:rPr>
                        <a:t>Metric</a:t>
                      </a:r>
                      <a:endParaRPr lang="en-PH" dirty="0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1st result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 dirty="0">
                          <a:solidFill>
                            <a:srgbClr val="000000"/>
                          </a:solidFill>
                          <a:effectLst/>
                        </a:rPr>
                        <a:t>2nd run results</a:t>
                      </a:r>
                      <a:endParaRPr lang="en-PH" dirty="0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Variance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0527">
                <a:tc>
                  <a:txBody>
                    <a:bodyPr/>
                    <a:lstStyle/>
                    <a:p>
                      <a:pPr algn="l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Hallucination Rate (HR) 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0.0%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 dirty="0">
                          <a:solidFill>
                            <a:srgbClr val="000000"/>
                          </a:solidFill>
                          <a:effectLst/>
                        </a:rPr>
                        <a:t>0.0%</a:t>
                      </a:r>
                      <a:endParaRPr lang="en-PH" dirty="0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0% (consistent)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4943">
                <a:tc>
                  <a:txBody>
                    <a:bodyPr/>
                    <a:lstStyle/>
                    <a:p>
                      <a:pPr algn="l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Clustering Efficiency (CE)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70.3%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69.31%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 dirty="0">
                          <a:solidFill>
                            <a:srgbClr val="000000"/>
                          </a:solidFill>
                          <a:effectLst/>
                        </a:rPr>
                        <a:t>±0.99 </a:t>
                      </a:r>
                      <a:r>
                        <a:rPr lang="en-PH" b="1" i="0" dirty="0" err="1">
                          <a:solidFill>
                            <a:srgbClr val="000000"/>
                          </a:solidFill>
                          <a:effectLst/>
                        </a:rPr>
                        <a:t>pp</a:t>
                      </a:r>
                      <a:endParaRPr lang="en-PH" dirty="0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0527">
                <a:tc>
                  <a:txBody>
                    <a:bodyPr/>
                    <a:lstStyle/>
                    <a:p>
                      <a:pPr algn="l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Budget Variance (BV)</a:t>
                      </a:r>
                      <a:r>
                        <a:rPr lang="en-PH" b="0" i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51.02%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45.24%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±5.78 pp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0527">
                <a:tc>
                  <a:txBody>
                    <a:bodyPr/>
                    <a:lstStyle/>
                    <a:p>
                      <a:pPr algn="l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Narrative Quality (NQ) 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4.35/5.0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>
                          <a:solidFill>
                            <a:srgbClr val="000000"/>
                          </a:solidFill>
                          <a:effectLst/>
                        </a:rPr>
                        <a:t>4.06/5.0</a:t>
                      </a:r>
                      <a:endParaRPr lang="en-PH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PH" b="1" i="0" dirty="0">
                          <a:solidFill>
                            <a:srgbClr val="000000"/>
                          </a:solidFill>
                          <a:effectLst/>
                        </a:rPr>
                        <a:t>±0.29 points</a:t>
                      </a:r>
                      <a:endParaRPr lang="en-PH" dirty="0">
                        <a:effectLst/>
                      </a:endParaRPr>
                    </a:p>
                  </a:txBody>
                  <a:tcPr anchor="ctr">
                    <a:lnL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7603" cap="flat" cmpd="sng" algn="ctr">
                      <a:solidFill>
                        <a:srgbClr val="043E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11125199" y="5565904"/>
            <a:ext cx="5970826" cy="415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  <a:spcBef>
                <a:spcPct val="0"/>
              </a:spcBef>
            </a:pPr>
            <a:r>
              <a:rPr lang="en-US" sz="1500" b="1" dirty="0">
                <a:solidFill>
                  <a:srgbClr val="043E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Analysis of </a:t>
            </a:r>
            <a:r>
              <a:rPr lang="en-US" sz="1500" b="1" dirty="0" smtClean="0">
                <a:solidFill>
                  <a:srgbClr val="043E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Variance</a:t>
            </a:r>
          </a:p>
          <a:p>
            <a:pPr algn="l">
              <a:lnSpc>
                <a:spcPts val="1800"/>
              </a:lnSpc>
              <a:spcBef>
                <a:spcPct val="0"/>
              </a:spcBef>
            </a:pPr>
            <a:endParaRPr lang="en-US" sz="1500" b="1" dirty="0">
              <a:solidFill>
                <a:srgbClr val="043E63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23850" lvl="1" indent="-161925" algn="just">
              <a:lnSpc>
                <a:spcPts val="1800"/>
              </a:lnSpc>
              <a:buFont typeface="Arial"/>
              <a:buChar char="•"/>
            </a:pPr>
            <a:r>
              <a:rPr lang="en-US" sz="1500" b="1" dirty="0">
                <a:solidFill>
                  <a:srgbClr val="043E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Hallucination Rate: </a:t>
            </a:r>
            <a:r>
              <a:rPr lang="en-US" sz="1500" b="1" dirty="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 perfectly consistent, proving the robustness of the core data grounding strategy. </a:t>
            </a:r>
          </a:p>
          <a:p>
            <a:pPr algn="just">
              <a:lnSpc>
                <a:spcPts val="1800"/>
              </a:lnSpc>
              <a:spcBef>
                <a:spcPct val="0"/>
              </a:spcBef>
            </a:pPr>
            <a:endParaRPr lang="en-US" sz="1500" b="1" dirty="0">
              <a:solidFill>
                <a:srgbClr val="1D1D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23850" lvl="1" indent="-161925" algn="just">
              <a:lnSpc>
                <a:spcPts val="1800"/>
              </a:lnSpc>
              <a:buFont typeface="Arial"/>
              <a:buChar char="•"/>
            </a:pPr>
            <a:r>
              <a:rPr lang="en-US" sz="1500" b="1" dirty="0">
                <a:solidFill>
                  <a:srgbClr val="043E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Clustering Efficiency: </a:t>
            </a:r>
            <a:r>
              <a:rPr lang="en-US" sz="1500" b="1" dirty="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performance dropped significantly in the notebook run, suggesting the itinerary routing is highly sensitive to small changes in the prompt or the filtered dataset. </a:t>
            </a:r>
          </a:p>
          <a:p>
            <a:pPr algn="just">
              <a:lnSpc>
                <a:spcPts val="1800"/>
              </a:lnSpc>
            </a:pPr>
            <a:endParaRPr lang="en-US" sz="1500" b="1" dirty="0">
              <a:solidFill>
                <a:srgbClr val="1D1D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23850" lvl="1" indent="-161925" algn="just">
              <a:lnSpc>
                <a:spcPts val="1800"/>
              </a:lnSpc>
              <a:buFont typeface="Arial"/>
              <a:buChar char="•"/>
            </a:pPr>
            <a:r>
              <a:rPr lang="en-US" sz="1500" b="1" dirty="0">
                <a:solidFill>
                  <a:srgbClr val="043E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Budget Variance:</a:t>
            </a:r>
            <a:r>
              <a:rPr lang="en-US" sz="1500" b="1" dirty="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Both results are very high, confirming a systemic flaw in enforcing budget constraints that needs dynamic intervention. </a:t>
            </a:r>
          </a:p>
          <a:p>
            <a:pPr algn="just">
              <a:lnSpc>
                <a:spcPts val="1800"/>
              </a:lnSpc>
            </a:pPr>
            <a:endParaRPr lang="en-US" sz="1500" b="1" dirty="0">
              <a:solidFill>
                <a:srgbClr val="1D1D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23850" lvl="1" indent="-161925" algn="just">
              <a:lnSpc>
                <a:spcPts val="1800"/>
              </a:lnSpc>
              <a:buFont typeface="Arial"/>
              <a:buChar char="•"/>
            </a:pPr>
            <a:r>
              <a:rPr lang="en-US" sz="1500" b="1" dirty="0">
                <a:solidFill>
                  <a:srgbClr val="043E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Narrative Quality: </a:t>
            </a:r>
            <a:r>
              <a:rPr lang="en-US" sz="1500" b="1" dirty="0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notebook run achieved a higher score, showing that the prompt engineering for narrative style was improved for the subsequent test runs.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51268" y="7126353"/>
            <a:ext cx="947863" cy="1272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23"/>
              </a:lnSpc>
              <a:spcBef>
                <a:spcPct val="0"/>
              </a:spcBef>
            </a:pPr>
            <a:r>
              <a:rPr lang="en-US" sz="8436" b="1" dirty="0">
                <a:solidFill>
                  <a:srgbClr val="043E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565904"/>
            <a:ext cx="6822526" cy="238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  <a:spcBef>
                <a:spcPct val="0"/>
              </a:spcBef>
            </a:pPr>
            <a:r>
              <a:rPr lang="en-US" sz="1500" b="1" dirty="0">
                <a:solidFill>
                  <a:srgbClr val="043E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Implementation Notebook Results (Actual Testing)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855397"/>
            <a:ext cx="16230600" cy="0"/>
          </a:xfrm>
          <a:prstGeom prst="line">
            <a:avLst/>
          </a:prstGeom>
          <a:ln w="47625" cap="flat">
            <a:solidFill>
              <a:srgbClr val="043E6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49576" y="2927946"/>
            <a:ext cx="403256" cy="4032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580045"/>
            <a:ext cx="14766933" cy="1659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TIMELINE &amp; REMAINING WORK</a:t>
            </a:r>
          </a:p>
          <a:p>
            <a:pPr algn="l">
              <a:lnSpc>
                <a:spcPts val="6719"/>
              </a:lnSpc>
            </a:pPr>
            <a:endParaRPr lang="en-US" sz="4800" b="1">
              <a:solidFill>
                <a:srgbClr val="1D1D1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2087009"/>
            <a:ext cx="162306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5-Week Project Timeline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37164" y="2775546"/>
            <a:ext cx="10140070" cy="1098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84"/>
              </a:lnSpc>
            </a:pPr>
            <a:r>
              <a:rPr lang="en-US" sz="2400" b="1">
                <a:solidFill>
                  <a:srgbClr val="6060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Week 1: Initial Proposal &amp; First Presentation </a:t>
            </a:r>
          </a:p>
          <a:p>
            <a:pPr algn="just">
              <a:lnSpc>
                <a:spcPts val="4584"/>
              </a:lnSpc>
            </a:pPr>
            <a:r>
              <a:rPr lang="en-US" sz="24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(Submitted proposal, 5-slide presentation, incorporated feedback)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75264" y="4016463"/>
            <a:ext cx="8700210" cy="1679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84"/>
              </a:lnSpc>
            </a:pPr>
            <a:r>
              <a:rPr lang="en-US" sz="2400" b="1">
                <a:solidFill>
                  <a:srgbClr val="6060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Week 2: Revised Paper &amp; Second Presentation</a:t>
            </a:r>
          </a:p>
          <a:p>
            <a:pPr algn="just">
              <a:lnSpc>
                <a:spcPts val="4584"/>
              </a:lnSpc>
            </a:pPr>
            <a:r>
              <a:rPr lang="en-US" sz="24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 (Updated research paper draft)</a:t>
            </a:r>
          </a:p>
          <a:p>
            <a:pPr algn="just">
              <a:lnSpc>
                <a:spcPts val="4584"/>
              </a:lnSpc>
            </a:pPr>
            <a:endParaRPr lang="en-US" sz="2400">
              <a:solidFill>
                <a:srgbClr val="6060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803839" y="5250381"/>
            <a:ext cx="8507858" cy="1098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84"/>
              </a:lnSpc>
            </a:pPr>
            <a:r>
              <a:rPr lang="en-US" sz="2400" b="1">
                <a:solidFill>
                  <a:srgbClr val="6060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Week 3: Code Submission &amp; Third Presentation</a:t>
            </a:r>
          </a:p>
          <a:p>
            <a:pPr algn="just">
              <a:lnSpc>
                <a:spcPts val="4584"/>
              </a:lnSpc>
            </a:pPr>
            <a:r>
              <a:rPr lang="en-US" sz="24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(All implementation files and system demonstration)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49576" y="4168863"/>
            <a:ext cx="403256" cy="40325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9576" y="5356726"/>
            <a:ext cx="403256" cy="40325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851464" y="6491298"/>
            <a:ext cx="8460233" cy="1098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84"/>
              </a:lnSpc>
            </a:pPr>
            <a:r>
              <a:rPr lang="en-US" sz="2400" b="1">
                <a:solidFill>
                  <a:srgbClr val="6060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Week 4: Research Poster &amp; Final Paper</a:t>
            </a:r>
          </a:p>
          <a:p>
            <a:pPr algn="just">
              <a:lnSpc>
                <a:spcPts val="4584"/>
              </a:lnSpc>
            </a:pPr>
            <a:r>
              <a:rPr lang="en-US" sz="24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(Visual poster and complete research documentation)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49576" y="6643698"/>
            <a:ext cx="403256" cy="403256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B8C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803839" y="7732215"/>
            <a:ext cx="8125738" cy="1098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84"/>
              </a:lnSpc>
            </a:pPr>
            <a:r>
              <a:rPr lang="en-US" sz="2400" b="1">
                <a:solidFill>
                  <a:srgbClr val="6060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Week 5: Final Presentation</a:t>
            </a:r>
          </a:p>
          <a:p>
            <a:pPr algn="just">
              <a:lnSpc>
                <a:spcPts val="4584"/>
              </a:lnSpc>
            </a:pPr>
            <a:r>
              <a:rPr lang="en-US" sz="24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rPr>
              <a:t>(Comprehensive project defense)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49576" y="7866104"/>
            <a:ext cx="403256" cy="40325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CB8C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761598" y="2087009"/>
            <a:ext cx="162306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 b="1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Deliverables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290722" y="2927946"/>
            <a:ext cx="4968578" cy="1547462"/>
            <a:chOff x="0" y="0"/>
            <a:chExt cx="6624770" cy="2063282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6624770" cy="2057958"/>
              <a:chOff x="0" y="0"/>
              <a:chExt cx="1646562" cy="51149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646562" cy="511498"/>
              </a:xfrm>
              <a:custGeom>
                <a:avLst/>
                <a:gdLst/>
                <a:ahLst/>
                <a:cxnLst/>
                <a:rect l="l" t="t" r="r" b="b"/>
                <a:pathLst>
                  <a:path w="1646562" h="511498">
                    <a:moveTo>
                      <a:pt x="79467" y="0"/>
                    </a:moveTo>
                    <a:lnTo>
                      <a:pt x="1567095" y="0"/>
                    </a:lnTo>
                    <a:cubicBezTo>
                      <a:pt x="1610984" y="0"/>
                      <a:pt x="1646562" y="35579"/>
                      <a:pt x="1646562" y="79467"/>
                    </a:cubicBezTo>
                    <a:lnTo>
                      <a:pt x="1646562" y="432031"/>
                    </a:lnTo>
                    <a:cubicBezTo>
                      <a:pt x="1646562" y="475919"/>
                      <a:pt x="1610984" y="511498"/>
                      <a:pt x="1567095" y="511498"/>
                    </a:cubicBezTo>
                    <a:lnTo>
                      <a:pt x="79467" y="511498"/>
                    </a:lnTo>
                    <a:cubicBezTo>
                      <a:pt x="58391" y="511498"/>
                      <a:pt x="38178" y="503125"/>
                      <a:pt x="23275" y="488223"/>
                    </a:cubicBezTo>
                    <a:cubicBezTo>
                      <a:pt x="8372" y="473320"/>
                      <a:pt x="0" y="453107"/>
                      <a:pt x="0" y="432031"/>
                    </a:cubicBezTo>
                    <a:lnTo>
                      <a:pt x="0" y="79467"/>
                    </a:lnTo>
                    <a:cubicBezTo>
                      <a:pt x="0" y="58391"/>
                      <a:pt x="8372" y="38178"/>
                      <a:pt x="23275" y="23275"/>
                    </a:cubicBezTo>
                    <a:cubicBezTo>
                      <a:pt x="38178" y="8372"/>
                      <a:pt x="58391" y="0"/>
                      <a:pt x="79467" y="0"/>
                    </a:cubicBezTo>
                    <a:close/>
                  </a:path>
                </a:pathLst>
              </a:custGeom>
              <a:solidFill>
                <a:srgbClr val="0D71B1">
                  <a:alpha val="23922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9525"/>
                <a:ext cx="1646562" cy="501973"/>
              </a:xfrm>
              <a:prstGeom prst="rect">
                <a:avLst/>
              </a:prstGeom>
            </p:spPr>
            <p:txBody>
              <a:bodyPr lIns="36605" tIns="36605" rIns="36605" bIns="36605" rtlCol="0" anchor="ctr"/>
              <a:lstStyle/>
              <a:p>
                <a:pPr algn="ctr">
                  <a:lnSpc>
                    <a:spcPts val="2880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597284" y="478352"/>
              <a:ext cx="5562931" cy="484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61"/>
                </a:lnSpc>
              </a:pPr>
              <a:r>
                <a:rPr lang="en-US" sz="2384" b="1">
                  <a:solidFill>
                    <a:srgbClr val="1D1D1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SmartTrip CDO 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2382" y="1186982"/>
              <a:ext cx="5817834" cy="876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09"/>
                </a:lnSpc>
              </a:pPr>
              <a:r>
                <a:rPr lang="en-US" sz="1800">
                  <a:solidFill>
                    <a:srgbClr val="60606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Prototype</a:t>
              </a:r>
            </a:p>
            <a:p>
              <a:pPr algn="ctr">
                <a:lnSpc>
                  <a:spcPts val="1709"/>
                </a:lnSpc>
              </a:pPr>
              <a:r>
                <a:rPr lang="en-US" sz="1800">
                  <a:solidFill>
                    <a:srgbClr val="60606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Functional Streamlit web application</a:t>
              </a:r>
            </a:p>
            <a:p>
              <a:pPr algn="ctr">
                <a:lnSpc>
                  <a:spcPts val="1709"/>
                </a:lnSpc>
              </a:pPr>
              <a:endParaRPr lang="en-US" sz="1800">
                <a:solidFill>
                  <a:srgbClr val="60606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290722" y="4760286"/>
            <a:ext cx="4968578" cy="1543469"/>
            <a:chOff x="0" y="0"/>
            <a:chExt cx="6624770" cy="2057958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6624770" cy="2057958"/>
              <a:chOff x="0" y="0"/>
              <a:chExt cx="1646562" cy="51149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646562" cy="511498"/>
              </a:xfrm>
              <a:custGeom>
                <a:avLst/>
                <a:gdLst/>
                <a:ahLst/>
                <a:cxnLst/>
                <a:rect l="l" t="t" r="r" b="b"/>
                <a:pathLst>
                  <a:path w="1646562" h="511498">
                    <a:moveTo>
                      <a:pt x="79467" y="0"/>
                    </a:moveTo>
                    <a:lnTo>
                      <a:pt x="1567095" y="0"/>
                    </a:lnTo>
                    <a:cubicBezTo>
                      <a:pt x="1610984" y="0"/>
                      <a:pt x="1646562" y="35579"/>
                      <a:pt x="1646562" y="79467"/>
                    </a:cubicBezTo>
                    <a:lnTo>
                      <a:pt x="1646562" y="432031"/>
                    </a:lnTo>
                    <a:cubicBezTo>
                      <a:pt x="1646562" y="475919"/>
                      <a:pt x="1610984" y="511498"/>
                      <a:pt x="1567095" y="511498"/>
                    </a:cubicBezTo>
                    <a:lnTo>
                      <a:pt x="79467" y="511498"/>
                    </a:lnTo>
                    <a:cubicBezTo>
                      <a:pt x="58391" y="511498"/>
                      <a:pt x="38178" y="503125"/>
                      <a:pt x="23275" y="488223"/>
                    </a:cubicBezTo>
                    <a:cubicBezTo>
                      <a:pt x="8372" y="473320"/>
                      <a:pt x="0" y="453107"/>
                      <a:pt x="0" y="432031"/>
                    </a:cubicBezTo>
                    <a:lnTo>
                      <a:pt x="0" y="79467"/>
                    </a:lnTo>
                    <a:cubicBezTo>
                      <a:pt x="0" y="58391"/>
                      <a:pt x="8372" y="38178"/>
                      <a:pt x="23275" y="23275"/>
                    </a:cubicBezTo>
                    <a:cubicBezTo>
                      <a:pt x="38178" y="8372"/>
                      <a:pt x="58391" y="0"/>
                      <a:pt x="79467" y="0"/>
                    </a:cubicBezTo>
                    <a:close/>
                  </a:path>
                </a:pathLst>
              </a:custGeom>
              <a:solidFill>
                <a:srgbClr val="0D71B1">
                  <a:alpha val="23922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9525"/>
                <a:ext cx="1646562" cy="501973"/>
              </a:xfrm>
              <a:prstGeom prst="rect">
                <a:avLst/>
              </a:prstGeom>
            </p:spPr>
            <p:txBody>
              <a:bodyPr lIns="36605" tIns="36605" rIns="36605" bIns="36605" rtlCol="0" anchor="ctr"/>
              <a:lstStyle/>
              <a:p>
                <a:pPr algn="ctr">
                  <a:lnSpc>
                    <a:spcPts val="2880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597284" y="478352"/>
              <a:ext cx="5562931" cy="484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61"/>
                </a:lnSpc>
              </a:pPr>
              <a:r>
                <a:rPr lang="en-US" sz="2384" b="1">
                  <a:solidFill>
                    <a:srgbClr val="1D1D1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CDO Tourism Database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2382" y="1186982"/>
              <a:ext cx="5817834" cy="317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09"/>
                </a:lnSpc>
              </a:pPr>
              <a:r>
                <a:rPr lang="en-US" sz="1800">
                  <a:solidFill>
                    <a:srgbClr val="60606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Open-source CSV (45 verified POls)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711</Words>
  <Application>Microsoft Office PowerPoint</Application>
  <PresentationFormat>Custom</PresentationFormat>
  <Paragraphs>148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Montserrat Semi-Bold</vt:lpstr>
      <vt:lpstr>Calibri</vt:lpstr>
      <vt:lpstr>Montserrat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SmartTripCdo_AlasanRenzo(et.al)&gt;_slides_3</dc:title>
  <cp:lastModifiedBy>User</cp:lastModifiedBy>
  <cp:revision>2</cp:revision>
  <dcterms:created xsi:type="dcterms:W3CDTF">2006-08-16T00:00:00Z</dcterms:created>
  <dcterms:modified xsi:type="dcterms:W3CDTF">2025-11-27T13:06:43Z</dcterms:modified>
  <dc:identifier>DAG4jZqUqKY</dc:identifier>
</cp:coreProperties>
</file>